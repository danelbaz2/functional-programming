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47462" autoAdjust="0"/>
  </p:normalViewPr>
  <p:slideViewPr>
    <p:cSldViewPr snapToGrid="0" snapToObjects="1">
      <p:cViewPr varScale="1">
        <p:scale>
          <a:sx n="54" d="100"/>
          <a:sy n="54" d="100"/>
        </p:scale>
        <p:origin x="275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9062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project is an analytics pipeline for an online shop. It ingests two CSV files - fifteen thousand purchase lines and a two hundred product catalog - joins them, and answers business questions: which categories make the money, who are our best customers, and how many categories generate eighty percent of revenue.
The dataset is generated deterministically from a fixed seed, so the same seed always rebuilds the exact same fifteen thousand rows - reproducible on any machine, by design.
But the real story of this project is not what it computes. It is how. Every single business rule is a pure function, and that one decision shaped the entire architecture - which brings me to slide two.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has a name: functional core, imperative shell.
All the business logic - revenue math, order classification, the Pareto analysis - lives in PureAnalytics, a file that imports zero Spark classes and touches no file and no console. Every function there depends only on its arguments and mutates nothing.
The Spark layer contains no business rules at all. Revenue by category, for example, is just groupByKey plus mapGroups, and inside the group Spark calls our pure foldCategory function. Spark is purely a distribution strategy.
The payoff is measurable: six of our seven test suites do not even start a Spark session. Purity here is not a style preference - it is what makes the entire pipeline unit-testable.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data is never clean, so our generator deliberately corrupts twenty of the fifteen thousand lines - fifteen where the price is not a number, five where a whole field is missing.
Our parser never throws an exception. It returns an Either: the right side is a parsed transaction, the left side is an immutable error value describing exactly what went wrong. Inside, a for-comprehension short-circuits on the first failure, and even the exception from toDouble is caught with Try and pattern-matched into an ordinary value.
Then the elegant part: we run the same pure parser twice. One Spark flatMap keeps the successes and drops the Nones. A second flatMap keeps only the failures, and those become our sixth report - the rejected lines, each with a human readable reason.
An error in this pipeline is not an exception that unwinds the stack. It is a value that flows through Spark like any other record, and the compiler forces every caller to handle both sides.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advanced techniques to highlight.
First, our custom combinator. Transform is a function type we wrote from scratch - deliberately not reusing Scala's built-in andThen. The tilde-arrow operator takes two transformations and returns a new one: a function that builds functions. In the order-size job we compose three small steps - read the revenue, classify it, label it - into one pipeline, and that single composed function is what Spark maps over all fifteen thousand rows. We even tested its algebraic laws: composition is associative and identity is neutral.
Second, the Pareto analysis is a tail-recursive function annotated with tailrec, so the compiler itself guarantees the recursion compiles to a loop - no stack overflow on any input size.
Third, closures. Our significance filter is a curried pure function. We partially apply it with the threshold on the driver, which creates a closure over that value, and Spark serializes that closure across the network to the executors. Currying is not decoration here - it is exactly how configuration travels to the cluster.
Techniques four and five - pattern matching over sealed ADTs, and errors as values - you already saw on the previous slide.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ends with six CSV reports - five analytics plus the rejected lines.
The headline business finding comes from the Pareto report: four of our eight categories account for eighty percent of all revenue, and Books alone is forty-eight percent, which tells the shop exactly where to focus. And because our generated sales follow a Zipf distribution, that concentration behaves like real market data rather than an artifact of uniform random numbers.
To conclude: functional programming was not an academic constraint we worked around - it is what made this pipeline work. Pure functions made the logic testable without a cluster. Immutability made it safe to ship across a cluster. And treating errors as values made it robust against dirty data.
The function that found our eighty-twenty insight is pure, tail-recursive, and unit-tested. Thank you -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116"/>
        </a:solidFill>
        <a:effectLst/>
      </p:bgPr>
    </p:bg>
    <p:spTree>
      <p:nvGrpSpPr>
        <p:cNvPr id="1" name=""/>
        <p:cNvGrpSpPr/>
        <p:nvPr/>
      </p:nvGrpSpPr>
      <p:grpSpPr>
        <a:xfrm>
          <a:off x="0" y="0"/>
          <a:ext cx="0" cy="0"/>
          <a:chOff x="0" y="0"/>
          <a:chExt cx="0" cy="0"/>
        </a:xfrm>
      </p:grpSpPr>
      <p:sp>
        <p:nvSpPr>
          <p:cNvPr id="2" name="Text 0"/>
          <p:cNvSpPr txBox="1"/>
          <p:nvPr/>
        </p:nvSpPr>
        <p:spPr>
          <a:xfrm>
            <a:off x="731520" y="1188720"/>
            <a:ext cx="10698480" cy="777240"/>
          </a:xfrm>
          <a:prstGeom prst="rect">
            <a:avLst/>
          </a:prstGeom>
          <a:noFill/>
          <a:ln/>
        </p:spPr>
        <p:txBody>
          <a:bodyPr wrap="square" lIns="0" tIns="0" rIns="0" bIns="0" rtlCol="0" anchor="ctr"/>
          <a:lstStyle/>
          <a:p>
            <a:pPr marL="0" indent="0">
              <a:buNone/>
            </a:pPr>
            <a:r>
              <a:rPr lang="en-US" sz="4200" b="1" dirty="0">
                <a:solidFill>
                  <a:srgbClr val="F2F4F7"/>
                </a:solidFill>
                <a:latin typeface="Cambria" pitchFamily="34" charset="0"/>
                <a:ea typeface="Cambria" pitchFamily="34" charset="-122"/>
                <a:cs typeface="Cambria" pitchFamily="34" charset="-120"/>
              </a:rPr>
              <a:t>Functional Data Processing Pipeline</a:t>
            </a:r>
            <a:endParaRPr lang="en-US" sz="4200" dirty="0"/>
          </a:p>
        </p:txBody>
      </p:sp>
      <p:sp>
        <p:nvSpPr>
          <p:cNvPr id="3" name="Text 1"/>
          <p:cNvSpPr txBox="1"/>
          <p:nvPr/>
        </p:nvSpPr>
        <p:spPr>
          <a:xfrm>
            <a:off x="731520" y="2057400"/>
            <a:ext cx="10698480" cy="411480"/>
          </a:xfrm>
          <a:prstGeom prst="rect">
            <a:avLst/>
          </a:prstGeom>
          <a:noFill/>
          <a:ln/>
        </p:spPr>
        <p:txBody>
          <a:bodyPr wrap="square" lIns="0" tIns="0" rIns="0" bIns="0" rtlCol="0" anchor="ctr"/>
          <a:lstStyle/>
          <a:p>
            <a:pPr marL="0" indent="0">
              <a:buNone/>
            </a:pPr>
            <a:r>
              <a:rPr lang="en-US" sz="1900" dirty="0">
                <a:solidFill>
                  <a:srgbClr val="6EE7B7"/>
                </a:solidFill>
                <a:latin typeface="Calibri" pitchFamily="34" charset="0"/>
                <a:ea typeface="Calibri" pitchFamily="34" charset="-122"/>
                <a:cs typeface="Calibri" pitchFamily="34" charset="-120"/>
              </a:rPr>
              <a:t>E-Commerce Analytics with Apache Spark — the Functional Way</a:t>
            </a:r>
            <a:endParaRPr lang="en-US" sz="1900" dirty="0"/>
          </a:p>
        </p:txBody>
      </p:sp>
      <p:sp>
        <p:nvSpPr>
          <p:cNvPr id="4" name="Text 2"/>
          <p:cNvSpPr txBox="1"/>
          <p:nvPr/>
        </p:nvSpPr>
        <p:spPr>
          <a:xfrm>
            <a:off x="731520" y="2606040"/>
            <a:ext cx="9692640" cy="548640"/>
          </a:xfrm>
          <a:prstGeom prst="rect">
            <a:avLst/>
          </a:prstGeom>
          <a:noFill/>
          <a:ln/>
        </p:spPr>
        <p:txBody>
          <a:bodyPr wrap="square" lIns="0" tIns="0" rIns="0" bIns="0" rtlCol="0" anchor="ctr"/>
          <a:lstStyle/>
          <a:p>
            <a:pPr marL="0" indent="0">
              <a:buNone/>
            </a:pPr>
            <a:r>
              <a:rPr lang="en-US" sz="1500" dirty="0">
                <a:solidFill>
                  <a:srgbClr val="9AA3B2"/>
                </a:solidFill>
                <a:latin typeface="Calibri" pitchFamily="34" charset="0"/>
                <a:ea typeface="Calibri" pitchFamily="34" charset="-122"/>
                <a:cs typeface="Calibri" pitchFamily="34" charset="-120"/>
              </a:rPr>
              <a:t>Two CSV sources in. Six analytical reports out. Every business rule is a pure function — Spark only decides how to distribute them.</a:t>
            </a:r>
            <a:endParaRPr lang="en-US" sz="1500" dirty="0"/>
          </a:p>
        </p:txBody>
      </p:sp>
      <p:sp>
        <p:nvSpPr>
          <p:cNvPr id="5" name="Shape 3"/>
          <p:cNvSpPr/>
          <p:nvPr/>
        </p:nvSpPr>
        <p:spPr>
          <a:xfrm>
            <a:off x="731520" y="3611880"/>
            <a:ext cx="10698480" cy="1600200"/>
          </a:xfrm>
          <a:prstGeom prst="roundRect">
            <a:avLst>
              <a:gd name="adj" fmla="val 4571"/>
            </a:avLst>
          </a:prstGeom>
          <a:solidFill>
            <a:srgbClr val="1B2029"/>
          </a:solidFill>
          <a:ln w="12700">
            <a:solidFill>
              <a:srgbClr val="2A3240"/>
            </a:solidFill>
            <a:prstDash val="solid"/>
          </a:ln>
        </p:spPr>
      </p:sp>
      <p:sp>
        <p:nvSpPr>
          <p:cNvPr id="6" name="Text 4"/>
          <p:cNvSpPr txBox="1"/>
          <p:nvPr/>
        </p:nvSpPr>
        <p:spPr>
          <a:xfrm>
            <a:off x="1051560" y="3931920"/>
            <a:ext cx="2377440" cy="566928"/>
          </a:xfrm>
          <a:prstGeom prst="rect">
            <a:avLst/>
          </a:prstGeom>
          <a:noFill/>
          <a:ln/>
        </p:spPr>
        <p:txBody>
          <a:bodyPr wrap="square" lIns="0" tIns="0" rIns="0" bIns="0" rtlCol="0" anchor="ctr"/>
          <a:lstStyle/>
          <a:p>
            <a:pPr marL="0" indent="0" algn="l">
              <a:buNone/>
            </a:pPr>
            <a:r>
              <a:rPr lang="en-US" sz="4000" b="1" dirty="0">
                <a:solidFill>
                  <a:srgbClr val="6EE7B7"/>
                </a:solidFill>
                <a:latin typeface="Cambria" pitchFamily="34" charset="0"/>
                <a:ea typeface="Cambria" pitchFamily="34" charset="-122"/>
                <a:cs typeface="Cambria" pitchFamily="34" charset="-120"/>
              </a:rPr>
              <a:t>15,000</a:t>
            </a:r>
            <a:endParaRPr lang="en-US" sz="4000" dirty="0"/>
          </a:p>
        </p:txBody>
      </p:sp>
      <p:sp>
        <p:nvSpPr>
          <p:cNvPr id="7" name="Text 5"/>
          <p:cNvSpPr txBox="1"/>
          <p:nvPr/>
        </p:nvSpPr>
        <p:spPr>
          <a:xfrm>
            <a:off x="1051560" y="4498848"/>
            <a:ext cx="2377440" cy="384048"/>
          </a:xfrm>
          <a:prstGeom prst="rect">
            <a:avLst/>
          </a:prstGeom>
          <a:noFill/>
          <a:ln/>
        </p:spPr>
        <p:txBody>
          <a:bodyPr wrap="square" lIns="0" tIns="0" rIns="0" bIns="0" rtlCol="0" anchor="ctr"/>
          <a:lstStyle/>
          <a:p>
            <a:pPr marL="0" indent="0" algn="l">
              <a:buNone/>
            </a:pPr>
            <a:r>
              <a:rPr lang="en-US" sz="1200" dirty="0">
                <a:solidFill>
                  <a:srgbClr val="9AA3B2"/>
                </a:solidFill>
                <a:latin typeface="Calibri" pitchFamily="34" charset="0"/>
                <a:ea typeface="Calibri" pitchFamily="34" charset="-122"/>
                <a:cs typeface="Calibri" pitchFamily="34" charset="-120"/>
              </a:rPr>
              <a:t>transactions + 200 products</a:t>
            </a:r>
            <a:endParaRPr lang="en-US" sz="1200" dirty="0"/>
          </a:p>
        </p:txBody>
      </p:sp>
      <p:sp>
        <p:nvSpPr>
          <p:cNvPr id="8" name="Text 6"/>
          <p:cNvSpPr txBox="1"/>
          <p:nvPr/>
        </p:nvSpPr>
        <p:spPr>
          <a:xfrm>
            <a:off x="3794760" y="3931920"/>
            <a:ext cx="2377440" cy="566928"/>
          </a:xfrm>
          <a:prstGeom prst="rect">
            <a:avLst/>
          </a:prstGeom>
          <a:noFill/>
          <a:ln/>
        </p:spPr>
        <p:txBody>
          <a:bodyPr wrap="square" lIns="0" tIns="0" rIns="0" bIns="0" rtlCol="0" anchor="ctr"/>
          <a:lstStyle/>
          <a:p>
            <a:pPr marL="0" indent="0" algn="l">
              <a:buNone/>
            </a:pPr>
            <a:r>
              <a:rPr lang="en-US" sz="4000" b="1" dirty="0">
                <a:solidFill>
                  <a:srgbClr val="6EE7B7"/>
                </a:solidFill>
                <a:latin typeface="Cambria" pitchFamily="34" charset="0"/>
                <a:ea typeface="Cambria" pitchFamily="34" charset="-122"/>
                <a:cs typeface="Cambria" pitchFamily="34" charset="-120"/>
              </a:rPr>
              <a:t>6</a:t>
            </a:r>
            <a:endParaRPr lang="en-US" sz="4000" dirty="0"/>
          </a:p>
        </p:txBody>
      </p:sp>
      <p:sp>
        <p:nvSpPr>
          <p:cNvPr id="9" name="Text 7"/>
          <p:cNvSpPr txBox="1"/>
          <p:nvPr/>
        </p:nvSpPr>
        <p:spPr>
          <a:xfrm>
            <a:off x="3794760" y="4498848"/>
            <a:ext cx="2377440" cy="384048"/>
          </a:xfrm>
          <a:prstGeom prst="rect">
            <a:avLst/>
          </a:prstGeom>
          <a:noFill/>
          <a:ln/>
        </p:spPr>
        <p:txBody>
          <a:bodyPr wrap="square" lIns="0" tIns="0" rIns="0" bIns="0" rtlCol="0" anchor="ctr"/>
          <a:lstStyle/>
          <a:p>
            <a:pPr marL="0" indent="0" algn="l">
              <a:buNone/>
            </a:pPr>
            <a:r>
              <a:rPr lang="en-US" sz="1200" dirty="0">
                <a:solidFill>
                  <a:srgbClr val="9AA3B2"/>
                </a:solidFill>
                <a:latin typeface="Calibri" pitchFamily="34" charset="0"/>
                <a:ea typeface="Calibri" pitchFamily="34" charset="-122"/>
                <a:cs typeface="Calibri" pitchFamily="34" charset="-120"/>
              </a:rPr>
              <a:t>Spark operations (4 required)</a:t>
            </a:r>
            <a:endParaRPr lang="en-US" sz="1200" dirty="0"/>
          </a:p>
        </p:txBody>
      </p:sp>
      <p:sp>
        <p:nvSpPr>
          <p:cNvPr id="10" name="Text 8"/>
          <p:cNvSpPr txBox="1"/>
          <p:nvPr/>
        </p:nvSpPr>
        <p:spPr>
          <a:xfrm>
            <a:off x="6400800" y="3931920"/>
            <a:ext cx="2743200" cy="566928"/>
          </a:xfrm>
          <a:prstGeom prst="rect">
            <a:avLst/>
          </a:prstGeom>
          <a:noFill/>
          <a:ln/>
        </p:spPr>
        <p:txBody>
          <a:bodyPr wrap="square" lIns="0" tIns="0" rIns="0" bIns="0" rtlCol="0" anchor="ctr"/>
          <a:lstStyle/>
          <a:p>
            <a:pPr marL="0" indent="0" algn="l">
              <a:buNone/>
            </a:pPr>
            <a:r>
              <a:rPr lang="en-US" sz="4000" b="1" dirty="0">
                <a:solidFill>
                  <a:srgbClr val="6EE7B7"/>
                </a:solidFill>
                <a:latin typeface="Cambria" pitchFamily="34" charset="0"/>
                <a:ea typeface="Cambria" pitchFamily="34" charset="-122"/>
                <a:cs typeface="Cambria" pitchFamily="34" charset="-120"/>
              </a:rPr>
              <a:t>5 / 5</a:t>
            </a:r>
            <a:endParaRPr lang="en-US" sz="4000" dirty="0"/>
          </a:p>
        </p:txBody>
      </p:sp>
      <p:sp>
        <p:nvSpPr>
          <p:cNvPr id="11" name="Text 9"/>
          <p:cNvSpPr txBox="1"/>
          <p:nvPr/>
        </p:nvSpPr>
        <p:spPr>
          <a:xfrm>
            <a:off x="6400800" y="4498848"/>
            <a:ext cx="2743200" cy="384048"/>
          </a:xfrm>
          <a:prstGeom prst="rect">
            <a:avLst/>
          </a:prstGeom>
          <a:noFill/>
          <a:ln/>
        </p:spPr>
        <p:txBody>
          <a:bodyPr wrap="square" lIns="0" tIns="0" rIns="0" bIns="0" rtlCol="0" anchor="ctr"/>
          <a:lstStyle/>
          <a:p>
            <a:pPr marL="0" indent="0" algn="l">
              <a:buNone/>
            </a:pPr>
            <a:r>
              <a:rPr lang="en-US" sz="1200" dirty="0">
                <a:solidFill>
                  <a:srgbClr val="9AA3B2"/>
                </a:solidFill>
                <a:latin typeface="Calibri" pitchFamily="34" charset="0"/>
                <a:ea typeface="Calibri" pitchFamily="34" charset="-122"/>
                <a:cs typeface="Calibri" pitchFamily="34" charset="-120"/>
              </a:rPr>
              <a:t>advanced FP techniques (3 required)</a:t>
            </a:r>
            <a:endParaRPr lang="en-US" sz="1200" dirty="0"/>
          </a:p>
        </p:txBody>
      </p:sp>
      <p:sp>
        <p:nvSpPr>
          <p:cNvPr id="12" name="Text 10"/>
          <p:cNvSpPr txBox="1"/>
          <p:nvPr/>
        </p:nvSpPr>
        <p:spPr>
          <a:xfrm>
            <a:off x="9326880" y="3931920"/>
            <a:ext cx="1920240" cy="566928"/>
          </a:xfrm>
          <a:prstGeom prst="rect">
            <a:avLst/>
          </a:prstGeom>
          <a:noFill/>
          <a:ln/>
        </p:spPr>
        <p:txBody>
          <a:bodyPr wrap="square" lIns="0" tIns="0" rIns="0" bIns="0" rtlCol="0" anchor="ctr"/>
          <a:lstStyle/>
          <a:p>
            <a:pPr marL="0" indent="0" algn="l">
              <a:buNone/>
            </a:pPr>
            <a:r>
              <a:rPr lang="en-US" sz="4000" b="1" dirty="0">
                <a:solidFill>
                  <a:srgbClr val="F5C265"/>
                </a:solidFill>
                <a:latin typeface="Cambria" pitchFamily="34" charset="0"/>
                <a:ea typeface="Cambria" pitchFamily="34" charset="-122"/>
                <a:cs typeface="Cambria" pitchFamily="34" charset="-120"/>
              </a:rPr>
              <a:t>0</a:t>
            </a:r>
            <a:endParaRPr lang="en-US" sz="4000" dirty="0"/>
          </a:p>
        </p:txBody>
      </p:sp>
      <p:sp>
        <p:nvSpPr>
          <p:cNvPr id="13" name="Text 11"/>
          <p:cNvSpPr txBox="1"/>
          <p:nvPr/>
        </p:nvSpPr>
        <p:spPr>
          <a:xfrm>
            <a:off x="9326880" y="4498848"/>
            <a:ext cx="1920240" cy="384048"/>
          </a:xfrm>
          <a:prstGeom prst="rect">
            <a:avLst/>
          </a:prstGeom>
          <a:noFill/>
          <a:ln/>
        </p:spPr>
        <p:txBody>
          <a:bodyPr wrap="square" lIns="0" tIns="0" rIns="0" bIns="0" rtlCol="0" anchor="ctr"/>
          <a:lstStyle/>
          <a:p>
            <a:pPr marL="0" indent="0" algn="l">
              <a:buNone/>
            </a:pPr>
            <a:r>
              <a:rPr lang="en-US" sz="1200" dirty="0">
                <a:solidFill>
                  <a:srgbClr val="9AA3B2"/>
                </a:solidFill>
                <a:latin typeface="Calibri" pitchFamily="34" charset="0"/>
                <a:ea typeface="Calibri" pitchFamily="34" charset="-122"/>
                <a:cs typeface="Calibri" pitchFamily="34" charset="-120"/>
              </a:rPr>
              <a:t>occurrences of  var  in src/main</a:t>
            </a:r>
            <a:endParaRPr lang="en-US" sz="1200" dirty="0"/>
          </a:p>
        </p:txBody>
      </p:sp>
      <p:sp>
        <p:nvSpPr>
          <p:cNvPr id="14" name="Text 12"/>
          <p:cNvSpPr txBox="1"/>
          <p:nvPr/>
        </p:nvSpPr>
        <p:spPr>
          <a:xfrm>
            <a:off x="731520" y="5532120"/>
            <a:ext cx="5486400" cy="320040"/>
          </a:xfrm>
          <a:prstGeom prst="rect">
            <a:avLst/>
          </a:prstGeom>
          <a:noFill/>
          <a:ln/>
        </p:spPr>
        <p:txBody>
          <a:bodyPr wrap="square" lIns="0" tIns="0" rIns="0" bIns="0" rtlCol="0" anchor="ctr"/>
          <a:lstStyle/>
          <a:p>
            <a:pPr marL="0" indent="0">
              <a:buNone/>
            </a:pPr>
            <a:r>
              <a:rPr lang="en-US" sz="1400" dirty="0">
                <a:solidFill>
                  <a:srgbClr val="F2F4F7"/>
                </a:solidFill>
                <a:latin typeface="Calibri" pitchFamily="34" charset="0"/>
                <a:ea typeface="Calibri" pitchFamily="34" charset="-122"/>
                <a:cs typeface="Calibri" pitchFamily="34" charset="-120"/>
              </a:rPr>
              <a:t>Ori Kochavi  ·  Dan Elbaz</a:t>
            </a:r>
            <a:endParaRPr lang="en-US" sz="1400" dirty="0"/>
          </a:p>
        </p:txBody>
      </p:sp>
      <p:sp>
        <p:nvSpPr>
          <p:cNvPr id="15" name="Text 13"/>
          <p:cNvSpPr txBox="1"/>
          <p:nvPr/>
        </p:nvSpPr>
        <p:spPr>
          <a:xfrm>
            <a:off x="731520" y="5897880"/>
            <a:ext cx="7315200" cy="320040"/>
          </a:xfrm>
          <a:prstGeom prst="rect">
            <a:avLst/>
          </a:prstGeom>
          <a:noFill/>
          <a:ln/>
        </p:spPr>
        <p:txBody>
          <a:bodyPr wrap="square" lIns="0" tIns="0" rIns="0" bIns="0" rtlCol="0" anchor="ctr"/>
          <a:lstStyle/>
          <a:p>
            <a:pPr marL="0" indent="0">
              <a:buNone/>
            </a:pPr>
            <a:r>
              <a:rPr lang="en-US" sz="1200" dirty="0">
                <a:solidFill>
                  <a:srgbClr val="9AA3B2"/>
                </a:solidFill>
                <a:latin typeface="Calibri" pitchFamily="34" charset="0"/>
                <a:ea typeface="Calibri" pitchFamily="34" charset="-122"/>
                <a:cs typeface="Calibri" pitchFamily="34" charset="-120"/>
              </a:rPr>
              <a:t>Scala 2.12.19  ·  Apache Spark 3.3.0  ·  JDK 11  ·  ScalaTest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881360" cy="685800"/>
          </a:xfrm>
          <a:prstGeom prst="rect">
            <a:avLst/>
          </a:prstGeom>
          <a:noFill/>
          <a:ln/>
        </p:spPr>
        <p:txBody>
          <a:bodyPr wrap="square" lIns="0" tIns="0" rIns="0" bIns="0" rtlCol="0" anchor="ctr"/>
          <a:lstStyle/>
          <a:p>
            <a:pPr marL="0" indent="0">
              <a:buNone/>
            </a:pPr>
            <a:r>
              <a:rPr lang="en-US" sz="3400" b="1" dirty="0">
                <a:solidFill>
                  <a:srgbClr val="141821"/>
                </a:solidFill>
                <a:latin typeface="Cambria" pitchFamily="34" charset="0"/>
                <a:ea typeface="Cambria" pitchFamily="34" charset="-122"/>
                <a:cs typeface="Cambria" pitchFamily="34" charset="-120"/>
              </a:rPr>
              <a:t>Architecture: Functional Core, Imperative Shell</a:t>
            </a:r>
            <a:endParaRPr lang="en-US" sz="3400" dirty="0"/>
          </a:p>
        </p:txBody>
      </p:sp>
      <p:sp>
        <p:nvSpPr>
          <p:cNvPr id="3" name="Text 1"/>
          <p:cNvSpPr txBox="1"/>
          <p:nvPr/>
        </p:nvSpPr>
        <p:spPr>
          <a:xfrm>
            <a:off x="640080" y="1234440"/>
            <a:ext cx="10881360" cy="365760"/>
          </a:xfrm>
          <a:prstGeom prst="rect">
            <a:avLst/>
          </a:prstGeom>
          <a:noFill/>
          <a:ln/>
        </p:spPr>
        <p:txBody>
          <a:bodyPr wrap="square" lIns="0" tIns="0" rIns="0" bIns="0" rtlCol="0" anchor="ctr"/>
          <a:lstStyle/>
          <a:p>
            <a:pPr marL="0" indent="0">
              <a:buNone/>
            </a:pPr>
            <a:r>
              <a:rPr lang="en-US" sz="1500" i="1" dirty="0">
                <a:solidFill>
                  <a:srgbClr val="5C6675"/>
                </a:solidFill>
                <a:latin typeface="Calibri" pitchFamily="34" charset="0"/>
                <a:ea typeface="Calibri" pitchFamily="34" charset="-122"/>
                <a:cs typeface="Calibri" pitchFamily="34" charset="-120"/>
              </a:rPr>
              <a:t>The business logic never touches the disk — and that is what makes it testable.</a:t>
            </a:r>
            <a:endParaRPr lang="en-US" sz="1500" dirty="0"/>
          </a:p>
        </p:txBody>
      </p:sp>
      <p:sp>
        <p:nvSpPr>
          <p:cNvPr id="4" name="Shape 2"/>
          <p:cNvSpPr/>
          <p:nvPr/>
        </p:nvSpPr>
        <p:spPr>
          <a:xfrm>
            <a:off x="640080" y="1874520"/>
            <a:ext cx="5943600" cy="914400"/>
          </a:xfrm>
          <a:prstGeom prst="roundRect">
            <a:avLst>
              <a:gd name="adj" fmla="val 7000"/>
            </a:avLst>
          </a:prstGeom>
          <a:solidFill>
            <a:srgbClr val="E4F7EF"/>
          </a:solidFill>
          <a:ln w="12700">
            <a:solidFill>
              <a:srgbClr val="BCE6D6"/>
            </a:solidFill>
            <a:prstDash val="solid"/>
          </a:ln>
        </p:spPr>
      </p:sp>
      <p:sp>
        <p:nvSpPr>
          <p:cNvPr id="5" name="Text 3"/>
          <p:cNvSpPr txBox="1"/>
          <p:nvPr/>
        </p:nvSpPr>
        <p:spPr>
          <a:xfrm>
            <a:off x="868680" y="1993392"/>
            <a:ext cx="1371600" cy="292608"/>
          </a:xfrm>
          <a:prstGeom prst="rect">
            <a:avLst/>
          </a:prstGeom>
          <a:noFill/>
          <a:ln/>
        </p:spPr>
        <p:txBody>
          <a:bodyPr wrap="square" lIns="0" tIns="0" rIns="0" bIns="0" rtlCol="0" anchor="ctr"/>
          <a:lstStyle/>
          <a:p>
            <a:pPr marL="0" indent="0">
              <a:buNone/>
            </a:pPr>
            <a:r>
              <a:rPr lang="en-US" sz="1500" b="1" dirty="0">
                <a:solidFill>
                  <a:srgbClr val="12805C"/>
                </a:solidFill>
                <a:latin typeface="Courier New" pitchFamily="34" charset="0"/>
                <a:ea typeface="Courier New" pitchFamily="34" charset="-122"/>
                <a:cs typeface="Courier New" pitchFamily="34" charset="-120"/>
              </a:rPr>
              <a:t>model/</a:t>
            </a:r>
            <a:endParaRPr lang="en-US" sz="1500" dirty="0"/>
          </a:p>
        </p:txBody>
      </p:sp>
      <p:sp>
        <p:nvSpPr>
          <p:cNvPr id="6" name="Text 4"/>
          <p:cNvSpPr txBox="1"/>
          <p:nvPr/>
        </p:nvSpPr>
        <p:spPr>
          <a:xfrm>
            <a:off x="5257800" y="2011680"/>
            <a:ext cx="1188720" cy="256032"/>
          </a:xfrm>
          <a:prstGeom prst="rect">
            <a:avLst/>
          </a:prstGeom>
          <a:noFill/>
          <a:ln/>
        </p:spPr>
        <p:txBody>
          <a:bodyPr wrap="square" lIns="0" tIns="0" rIns="0" bIns="0" rtlCol="0" anchor="ctr"/>
          <a:lstStyle/>
          <a:p>
            <a:pPr marL="0" indent="0" algn="r">
              <a:buNone/>
            </a:pPr>
            <a:r>
              <a:rPr lang="en-US" sz="900" b="1" dirty="0">
                <a:solidFill>
                  <a:srgbClr val="12805C"/>
                </a:solidFill>
                <a:latin typeface="Calibri" pitchFamily="34" charset="0"/>
                <a:ea typeface="Calibri" pitchFamily="34" charset="-122"/>
                <a:cs typeface="Calibri" pitchFamily="34" charset="-120"/>
              </a:rPr>
              <a:t>PURE</a:t>
            </a:r>
            <a:endParaRPr lang="en-US" sz="900" dirty="0"/>
          </a:p>
        </p:txBody>
      </p:sp>
      <p:sp>
        <p:nvSpPr>
          <p:cNvPr id="7" name="Text 5"/>
          <p:cNvSpPr txBox="1"/>
          <p:nvPr/>
        </p:nvSpPr>
        <p:spPr>
          <a:xfrm>
            <a:off x="868680" y="2304288"/>
            <a:ext cx="5394960" cy="292608"/>
          </a:xfrm>
          <a:prstGeom prst="rect">
            <a:avLst/>
          </a:prstGeom>
          <a:noFill/>
          <a:ln/>
        </p:spPr>
        <p:txBody>
          <a:bodyPr wrap="square" lIns="0" tIns="0" rIns="0" bIns="0" rtlCol="0" anchor="ctr"/>
          <a:lstStyle/>
          <a:p>
            <a:pPr marL="0" indent="0">
              <a:buNone/>
            </a:pPr>
            <a:r>
              <a:rPr lang="en-US" sz="1200" dirty="0">
                <a:solidFill>
                  <a:srgbClr val="5C6675"/>
                </a:solidFill>
                <a:latin typeface="Calibri" pitchFamily="34" charset="0"/>
                <a:ea typeface="Calibri" pitchFamily="34" charset="-122"/>
                <a:cs typeface="Calibri" pitchFamily="34" charset="-120"/>
              </a:rPr>
              <a:t>Immutable case classes and sealed ADTs</a:t>
            </a:r>
            <a:endParaRPr lang="en-US" sz="1200" dirty="0"/>
          </a:p>
        </p:txBody>
      </p:sp>
      <p:sp>
        <p:nvSpPr>
          <p:cNvPr id="8" name="Shape 6"/>
          <p:cNvSpPr/>
          <p:nvPr/>
        </p:nvSpPr>
        <p:spPr>
          <a:xfrm>
            <a:off x="640080" y="2953512"/>
            <a:ext cx="5943600" cy="914400"/>
          </a:xfrm>
          <a:prstGeom prst="roundRect">
            <a:avLst>
              <a:gd name="adj" fmla="val 7000"/>
            </a:avLst>
          </a:prstGeom>
          <a:solidFill>
            <a:srgbClr val="E4F7EF"/>
          </a:solidFill>
          <a:ln w="12700">
            <a:solidFill>
              <a:srgbClr val="BCE6D6"/>
            </a:solidFill>
            <a:prstDash val="solid"/>
          </a:ln>
        </p:spPr>
      </p:sp>
      <p:sp>
        <p:nvSpPr>
          <p:cNvPr id="9" name="Text 7"/>
          <p:cNvSpPr txBox="1"/>
          <p:nvPr/>
        </p:nvSpPr>
        <p:spPr>
          <a:xfrm>
            <a:off x="868680" y="3072384"/>
            <a:ext cx="1371600" cy="292608"/>
          </a:xfrm>
          <a:prstGeom prst="rect">
            <a:avLst/>
          </a:prstGeom>
          <a:noFill/>
          <a:ln/>
        </p:spPr>
        <p:txBody>
          <a:bodyPr wrap="square" lIns="0" tIns="0" rIns="0" bIns="0" rtlCol="0" anchor="ctr"/>
          <a:lstStyle/>
          <a:p>
            <a:pPr marL="0" indent="0">
              <a:buNone/>
            </a:pPr>
            <a:r>
              <a:rPr lang="en-US" sz="1500" b="1" dirty="0">
                <a:solidFill>
                  <a:srgbClr val="12805C"/>
                </a:solidFill>
                <a:latin typeface="Courier New" pitchFamily="34" charset="0"/>
                <a:ea typeface="Courier New" pitchFamily="34" charset="-122"/>
                <a:cs typeface="Courier New" pitchFamily="34" charset="-120"/>
              </a:rPr>
              <a:t>core/</a:t>
            </a:r>
            <a:endParaRPr lang="en-US" sz="1500" dirty="0"/>
          </a:p>
        </p:txBody>
      </p:sp>
      <p:sp>
        <p:nvSpPr>
          <p:cNvPr id="10" name="Text 8"/>
          <p:cNvSpPr txBox="1"/>
          <p:nvPr/>
        </p:nvSpPr>
        <p:spPr>
          <a:xfrm>
            <a:off x="5257800" y="3090672"/>
            <a:ext cx="1188720" cy="256032"/>
          </a:xfrm>
          <a:prstGeom prst="rect">
            <a:avLst/>
          </a:prstGeom>
          <a:noFill/>
          <a:ln/>
        </p:spPr>
        <p:txBody>
          <a:bodyPr wrap="square" lIns="0" tIns="0" rIns="0" bIns="0" rtlCol="0" anchor="ctr"/>
          <a:lstStyle/>
          <a:p>
            <a:pPr marL="0" indent="0" algn="r">
              <a:buNone/>
            </a:pPr>
            <a:r>
              <a:rPr lang="en-US" sz="900" b="1" dirty="0">
                <a:solidFill>
                  <a:srgbClr val="12805C"/>
                </a:solidFill>
                <a:latin typeface="Calibri" pitchFamily="34" charset="0"/>
                <a:ea typeface="Calibri" pitchFamily="34" charset="-122"/>
                <a:cs typeface="Calibri" pitchFamily="34" charset="-120"/>
              </a:rPr>
              <a:t>PURE</a:t>
            </a:r>
            <a:endParaRPr lang="en-US" sz="900" dirty="0"/>
          </a:p>
        </p:txBody>
      </p:sp>
      <p:sp>
        <p:nvSpPr>
          <p:cNvPr id="11" name="Text 9"/>
          <p:cNvSpPr txBox="1"/>
          <p:nvPr/>
        </p:nvSpPr>
        <p:spPr>
          <a:xfrm>
            <a:off x="868680" y="3383280"/>
            <a:ext cx="5394960" cy="292608"/>
          </a:xfrm>
          <a:prstGeom prst="rect">
            <a:avLst/>
          </a:prstGeom>
          <a:noFill/>
          <a:ln/>
        </p:spPr>
        <p:txBody>
          <a:bodyPr wrap="square" lIns="0" tIns="0" rIns="0" bIns="0" rtlCol="0" anchor="ctr"/>
          <a:lstStyle/>
          <a:p>
            <a:pPr marL="0" indent="0">
              <a:buNone/>
            </a:pPr>
            <a:r>
              <a:rPr lang="en-US" sz="1200" dirty="0">
                <a:solidFill>
                  <a:srgbClr val="5C6675"/>
                </a:solidFill>
                <a:latin typeface="Calibri" pitchFamily="34" charset="0"/>
                <a:ea typeface="Calibri" pitchFamily="34" charset="-122"/>
                <a:cs typeface="Calibri" pitchFamily="34" charset="-120"/>
              </a:rPr>
              <a:t>PURE functions only — zero Spark imports, zero I/O</a:t>
            </a:r>
            <a:endParaRPr lang="en-US" sz="1200" dirty="0"/>
          </a:p>
        </p:txBody>
      </p:sp>
      <p:sp>
        <p:nvSpPr>
          <p:cNvPr id="12" name="Shape 10"/>
          <p:cNvSpPr/>
          <p:nvPr/>
        </p:nvSpPr>
        <p:spPr>
          <a:xfrm>
            <a:off x="640080" y="4032504"/>
            <a:ext cx="5943600" cy="914400"/>
          </a:xfrm>
          <a:prstGeom prst="roundRect">
            <a:avLst>
              <a:gd name="adj" fmla="val 7000"/>
            </a:avLst>
          </a:prstGeom>
          <a:solidFill>
            <a:srgbClr val="FDF1DC"/>
          </a:solidFill>
          <a:ln w="12700">
            <a:solidFill>
              <a:srgbClr val="F0DCB8"/>
            </a:solidFill>
            <a:prstDash val="solid"/>
          </a:ln>
        </p:spPr>
      </p:sp>
      <p:sp>
        <p:nvSpPr>
          <p:cNvPr id="13" name="Text 11"/>
          <p:cNvSpPr txBox="1"/>
          <p:nvPr/>
        </p:nvSpPr>
        <p:spPr>
          <a:xfrm>
            <a:off x="868680" y="4151376"/>
            <a:ext cx="1371600" cy="292608"/>
          </a:xfrm>
          <a:prstGeom prst="rect">
            <a:avLst/>
          </a:prstGeom>
          <a:noFill/>
          <a:ln/>
        </p:spPr>
        <p:txBody>
          <a:bodyPr wrap="square" lIns="0" tIns="0" rIns="0" bIns="0" rtlCol="0" anchor="ctr"/>
          <a:lstStyle/>
          <a:p>
            <a:pPr marL="0" indent="0">
              <a:buNone/>
            </a:pPr>
            <a:r>
              <a:rPr lang="en-US" sz="1500" b="1" dirty="0">
                <a:solidFill>
                  <a:srgbClr val="9A6412"/>
                </a:solidFill>
                <a:latin typeface="Courier New" pitchFamily="34" charset="0"/>
                <a:ea typeface="Courier New" pitchFamily="34" charset="-122"/>
                <a:cs typeface="Courier New" pitchFamily="34" charset="-120"/>
              </a:rPr>
              <a:t>spark/</a:t>
            </a:r>
            <a:endParaRPr lang="en-US" sz="1500" dirty="0"/>
          </a:p>
        </p:txBody>
      </p:sp>
      <p:sp>
        <p:nvSpPr>
          <p:cNvPr id="14" name="Text 12"/>
          <p:cNvSpPr txBox="1"/>
          <p:nvPr/>
        </p:nvSpPr>
        <p:spPr>
          <a:xfrm>
            <a:off x="5257800" y="4169664"/>
            <a:ext cx="1188720" cy="256032"/>
          </a:xfrm>
          <a:prstGeom prst="rect">
            <a:avLst/>
          </a:prstGeom>
          <a:noFill/>
          <a:ln/>
        </p:spPr>
        <p:txBody>
          <a:bodyPr wrap="square" lIns="0" tIns="0" rIns="0" bIns="0" rtlCol="0" anchor="ctr"/>
          <a:lstStyle/>
          <a:p>
            <a:pPr marL="0" indent="0" algn="r">
              <a:buNone/>
            </a:pPr>
            <a:r>
              <a:rPr lang="en-US" sz="900" b="1" dirty="0">
                <a:solidFill>
                  <a:srgbClr val="9A6412"/>
                </a:solidFill>
                <a:latin typeface="Calibri" pitchFamily="34" charset="0"/>
                <a:ea typeface="Calibri" pitchFamily="34" charset="-122"/>
                <a:cs typeface="Calibri" pitchFamily="34" charset="-120"/>
              </a:rPr>
              <a:t>EFFECTFUL</a:t>
            </a:r>
            <a:endParaRPr lang="en-US" sz="900" dirty="0"/>
          </a:p>
        </p:txBody>
      </p:sp>
      <p:sp>
        <p:nvSpPr>
          <p:cNvPr id="15" name="Text 13"/>
          <p:cNvSpPr txBox="1"/>
          <p:nvPr/>
        </p:nvSpPr>
        <p:spPr>
          <a:xfrm>
            <a:off x="868680" y="4462272"/>
            <a:ext cx="5394960" cy="292608"/>
          </a:xfrm>
          <a:prstGeom prst="rect">
            <a:avLst/>
          </a:prstGeom>
          <a:noFill/>
          <a:ln/>
        </p:spPr>
        <p:txBody>
          <a:bodyPr wrap="square" lIns="0" tIns="0" rIns="0" bIns="0" rtlCol="0" anchor="ctr"/>
          <a:lstStyle/>
          <a:p>
            <a:pPr marL="0" indent="0">
              <a:buNone/>
            </a:pPr>
            <a:r>
              <a:rPr lang="en-US" sz="1200" dirty="0">
                <a:solidFill>
                  <a:srgbClr val="5C6675"/>
                </a:solidFill>
                <a:latin typeface="Calibri" pitchFamily="34" charset="0"/>
                <a:ea typeface="Calibri" pitchFamily="34" charset="-122"/>
                <a:cs typeface="Calibri" pitchFamily="34" charset="-120"/>
              </a:rPr>
              <a:t>Distribution decisions — no business rules</a:t>
            </a:r>
            <a:endParaRPr lang="en-US" sz="1200" dirty="0"/>
          </a:p>
        </p:txBody>
      </p:sp>
      <p:sp>
        <p:nvSpPr>
          <p:cNvPr id="16" name="Shape 14"/>
          <p:cNvSpPr/>
          <p:nvPr/>
        </p:nvSpPr>
        <p:spPr>
          <a:xfrm>
            <a:off x="640080" y="5111496"/>
            <a:ext cx="5943600" cy="914400"/>
          </a:xfrm>
          <a:prstGeom prst="roundRect">
            <a:avLst>
              <a:gd name="adj" fmla="val 7000"/>
            </a:avLst>
          </a:prstGeom>
          <a:solidFill>
            <a:srgbClr val="FDF1DC"/>
          </a:solidFill>
          <a:ln w="12700">
            <a:solidFill>
              <a:srgbClr val="F0DCB8"/>
            </a:solidFill>
            <a:prstDash val="solid"/>
          </a:ln>
        </p:spPr>
      </p:sp>
      <p:sp>
        <p:nvSpPr>
          <p:cNvPr id="17" name="Text 15"/>
          <p:cNvSpPr txBox="1"/>
          <p:nvPr/>
        </p:nvSpPr>
        <p:spPr>
          <a:xfrm>
            <a:off x="868680" y="5230368"/>
            <a:ext cx="1371600" cy="292608"/>
          </a:xfrm>
          <a:prstGeom prst="rect">
            <a:avLst/>
          </a:prstGeom>
          <a:noFill/>
          <a:ln/>
        </p:spPr>
        <p:txBody>
          <a:bodyPr wrap="square" lIns="0" tIns="0" rIns="0" bIns="0" rtlCol="0" anchor="ctr"/>
          <a:lstStyle/>
          <a:p>
            <a:pPr marL="0" indent="0">
              <a:buNone/>
            </a:pPr>
            <a:r>
              <a:rPr lang="en-US" sz="1500" b="1" dirty="0">
                <a:solidFill>
                  <a:srgbClr val="9A6412"/>
                </a:solidFill>
                <a:latin typeface="Courier New" pitchFamily="34" charset="0"/>
                <a:ea typeface="Courier New" pitchFamily="34" charset="-122"/>
                <a:cs typeface="Courier New" pitchFamily="34" charset="-120"/>
              </a:rPr>
              <a:t>io/</a:t>
            </a:r>
            <a:endParaRPr lang="en-US" sz="1500" dirty="0"/>
          </a:p>
        </p:txBody>
      </p:sp>
      <p:sp>
        <p:nvSpPr>
          <p:cNvPr id="18" name="Text 16"/>
          <p:cNvSpPr txBox="1"/>
          <p:nvPr/>
        </p:nvSpPr>
        <p:spPr>
          <a:xfrm>
            <a:off x="5257800" y="5248656"/>
            <a:ext cx="1188720" cy="256032"/>
          </a:xfrm>
          <a:prstGeom prst="rect">
            <a:avLst/>
          </a:prstGeom>
          <a:noFill/>
          <a:ln/>
        </p:spPr>
        <p:txBody>
          <a:bodyPr wrap="square" lIns="0" tIns="0" rIns="0" bIns="0" rtlCol="0" anchor="ctr"/>
          <a:lstStyle/>
          <a:p>
            <a:pPr marL="0" indent="0" algn="r">
              <a:buNone/>
            </a:pPr>
            <a:r>
              <a:rPr lang="en-US" sz="900" b="1" dirty="0">
                <a:solidFill>
                  <a:srgbClr val="9A6412"/>
                </a:solidFill>
                <a:latin typeface="Calibri" pitchFamily="34" charset="0"/>
                <a:ea typeface="Calibri" pitchFamily="34" charset="-122"/>
                <a:cs typeface="Calibri" pitchFamily="34" charset="-120"/>
              </a:rPr>
              <a:t>EFFECTFUL</a:t>
            </a:r>
            <a:endParaRPr lang="en-US" sz="900" dirty="0"/>
          </a:p>
        </p:txBody>
      </p:sp>
      <p:sp>
        <p:nvSpPr>
          <p:cNvPr id="19" name="Text 17"/>
          <p:cNvSpPr txBox="1"/>
          <p:nvPr/>
        </p:nvSpPr>
        <p:spPr>
          <a:xfrm>
            <a:off x="868680" y="5541264"/>
            <a:ext cx="5394960" cy="292608"/>
          </a:xfrm>
          <a:prstGeom prst="rect">
            <a:avLst/>
          </a:prstGeom>
          <a:noFill/>
          <a:ln/>
        </p:spPr>
        <p:txBody>
          <a:bodyPr wrap="square" lIns="0" tIns="0" rIns="0" bIns="0" rtlCol="0" anchor="ctr"/>
          <a:lstStyle/>
          <a:p>
            <a:pPr marL="0" indent="0">
              <a:buNone/>
            </a:pPr>
            <a:r>
              <a:rPr lang="en-US" sz="1200" dirty="0">
                <a:solidFill>
                  <a:srgbClr val="5C6675"/>
                </a:solidFill>
                <a:latin typeface="Calibri" pitchFamily="34" charset="0"/>
                <a:ea typeface="Calibri" pitchFamily="34" charset="-122"/>
                <a:cs typeface="Calibri" pitchFamily="34" charset="-120"/>
              </a:rPr>
              <a:t>The only effectful layer — files, console, session</a:t>
            </a:r>
            <a:endParaRPr lang="en-US" sz="1200" dirty="0"/>
          </a:p>
        </p:txBody>
      </p:sp>
      <p:sp>
        <p:nvSpPr>
          <p:cNvPr id="20" name="Text 18"/>
          <p:cNvSpPr txBox="1"/>
          <p:nvPr/>
        </p:nvSpPr>
        <p:spPr>
          <a:xfrm>
            <a:off x="6949440" y="1874520"/>
            <a:ext cx="4572000" cy="320040"/>
          </a:xfrm>
          <a:prstGeom prst="rect">
            <a:avLst/>
          </a:prstGeom>
          <a:noFill/>
          <a:ln/>
        </p:spPr>
        <p:txBody>
          <a:bodyPr wrap="square" lIns="0" tIns="0" rIns="0" bIns="0" rtlCol="0" anchor="ctr"/>
          <a:lstStyle/>
          <a:p>
            <a:pPr marL="0" indent="0">
              <a:buNone/>
            </a:pPr>
            <a:r>
              <a:rPr lang="en-US" sz="1700" b="1" dirty="0">
                <a:solidFill>
                  <a:srgbClr val="141821"/>
                </a:solidFill>
                <a:latin typeface="Cambria" pitchFamily="34" charset="0"/>
                <a:ea typeface="Cambria" pitchFamily="34" charset="-122"/>
                <a:cs typeface="Cambria" pitchFamily="34" charset="-120"/>
              </a:rPr>
              <a:t>How a rule reaches the cluster</a:t>
            </a:r>
            <a:endParaRPr lang="en-US" sz="1700" dirty="0"/>
          </a:p>
        </p:txBody>
      </p:sp>
      <p:sp>
        <p:nvSpPr>
          <p:cNvPr id="21" name="Shape 19"/>
          <p:cNvSpPr/>
          <p:nvPr/>
        </p:nvSpPr>
        <p:spPr>
          <a:xfrm>
            <a:off x="6949440" y="2286000"/>
            <a:ext cx="4572000" cy="1325880"/>
          </a:xfrm>
          <a:prstGeom prst="roundRect">
            <a:avLst>
              <a:gd name="adj" fmla="val 4138"/>
            </a:avLst>
          </a:prstGeom>
          <a:solidFill>
            <a:srgbClr val="11161E"/>
          </a:solidFill>
          <a:ln w="12700">
            <a:solidFill>
              <a:srgbClr val="11161E"/>
            </a:solidFill>
            <a:prstDash val="solid"/>
          </a:ln>
        </p:spPr>
      </p:sp>
      <p:sp>
        <p:nvSpPr>
          <p:cNvPr id="22" name="Text 20"/>
          <p:cNvSpPr txBox="1"/>
          <p:nvPr/>
        </p:nvSpPr>
        <p:spPr>
          <a:xfrm>
            <a:off x="7095744" y="2377440"/>
            <a:ext cx="4279392" cy="1143000"/>
          </a:xfrm>
          <a:prstGeom prst="rect">
            <a:avLst/>
          </a:prstGeom>
          <a:noFill/>
          <a:ln/>
        </p:spPr>
        <p:txBody>
          <a:bodyPr wrap="square" lIns="0" tIns="0" rIns="0" bIns="0" rtlCol="0" anchor="ctr"/>
          <a:lstStyle/>
          <a:p>
            <a:pPr marL="0" indent="0">
              <a:buNone/>
            </a:pPr>
            <a:r>
              <a:rPr lang="en-US" sz="1200" dirty="0">
                <a:solidFill>
                  <a:srgbClr val="6EE7B7"/>
                </a:solidFill>
                <a:latin typeface="Courier New" pitchFamily="34" charset="0"/>
                <a:ea typeface="Courier New" pitchFamily="34" charset="-122"/>
                <a:cs typeface="Courier New" pitchFamily="34" charset="-120"/>
              </a:rPr>
              <a:t>enriched</a:t>
            </a:r>
            <a:endParaRPr lang="en-US" sz="1200" dirty="0"/>
          </a:p>
          <a:p>
            <a:pPr marL="0" indent="0">
              <a:buNone/>
            </a:pPr>
            <a:r>
              <a:rPr lang="en-US" sz="1200" dirty="0">
                <a:solidFill>
                  <a:srgbClr val="6EE7B7"/>
                </a:solidFill>
                <a:latin typeface="Courier New" pitchFamily="34" charset="0"/>
                <a:ea typeface="Courier New" pitchFamily="34" charset="-122"/>
                <a:cs typeface="Courier New" pitchFamily="34" charset="-120"/>
              </a:rPr>
              <a:t>  .groupByKey(_.category)</a:t>
            </a:r>
            <a:endParaRPr lang="en-US" sz="1200" dirty="0"/>
          </a:p>
          <a:p>
            <a:pPr marL="0" indent="0">
              <a:buNone/>
            </a:pPr>
            <a:r>
              <a:rPr lang="en-US" sz="1200" dirty="0">
                <a:solidFill>
                  <a:srgbClr val="6EE7B7"/>
                </a:solidFill>
                <a:latin typeface="Courier New" pitchFamily="34" charset="0"/>
                <a:ea typeface="Courier New" pitchFamily="34" charset="-122"/>
                <a:cs typeface="Courier New" pitchFamily="34" charset="-120"/>
              </a:rPr>
              <a:t>  .mapGroups(PureAnalytics</a:t>
            </a:r>
            <a:endParaRPr lang="en-US" sz="1200" dirty="0"/>
          </a:p>
          <a:p>
            <a:pPr marL="0" indent="0">
              <a:buNone/>
            </a:pPr>
            <a:r>
              <a:rPr lang="en-US" sz="1200" dirty="0">
                <a:solidFill>
                  <a:srgbClr val="6EE7B7"/>
                </a:solidFill>
                <a:latin typeface="Courier New" pitchFamily="34" charset="0"/>
                <a:ea typeface="Courier New" pitchFamily="34" charset="-122"/>
                <a:cs typeface="Courier New" pitchFamily="34" charset="-120"/>
              </a:rPr>
              <a:t>              .foldCategory)</a:t>
            </a:r>
            <a:endParaRPr lang="en-US" sz="1200" dirty="0"/>
          </a:p>
        </p:txBody>
      </p:sp>
      <p:sp>
        <p:nvSpPr>
          <p:cNvPr id="23" name="Text 21"/>
          <p:cNvSpPr txBox="1"/>
          <p:nvPr/>
        </p:nvSpPr>
        <p:spPr>
          <a:xfrm>
            <a:off x="6949440" y="3794760"/>
            <a:ext cx="4572000" cy="502920"/>
          </a:xfrm>
          <a:prstGeom prst="rect">
            <a:avLst/>
          </a:prstGeom>
          <a:noFill/>
          <a:ln/>
        </p:spPr>
        <p:txBody>
          <a:bodyPr wrap="square" lIns="0" tIns="0" rIns="0" bIns="0" rtlCol="0" anchor="ctr"/>
          <a:lstStyle/>
          <a:p>
            <a:pPr marL="0" indent="0">
              <a:buNone/>
            </a:pPr>
            <a:r>
              <a:rPr lang="en-US" sz="1300" dirty="0">
                <a:solidFill>
                  <a:srgbClr val="5C6675"/>
                </a:solidFill>
                <a:latin typeface="Calibri" pitchFamily="34" charset="0"/>
                <a:ea typeface="Calibri" pitchFamily="34" charset="-122"/>
                <a:cs typeface="Calibri" pitchFamily="34" charset="-120"/>
              </a:rPr>
              <a:t>Spark chooses </a:t>
            </a:r>
            <a:r>
              <a:rPr lang="en-US" sz="1300" b="1" dirty="0">
                <a:solidFill>
                  <a:srgbClr val="141821"/>
                </a:solidFill>
                <a:latin typeface="Calibri" pitchFamily="34" charset="0"/>
                <a:ea typeface="Calibri" pitchFamily="34" charset="-122"/>
                <a:cs typeface="Calibri" pitchFamily="34" charset="-120"/>
              </a:rPr>
              <a:t>how</a:t>
            </a:r>
            <a:r>
              <a:rPr lang="en-US" sz="1300" dirty="0">
                <a:solidFill>
                  <a:srgbClr val="5C6675"/>
                </a:solidFill>
                <a:latin typeface="Calibri" pitchFamily="34" charset="0"/>
                <a:ea typeface="Calibri" pitchFamily="34" charset="-122"/>
                <a:cs typeface="Calibri" pitchFamily="34" charset="-120"/>
              </a:rPr>
              <a:t> to distribute. </a:t>
            </a:r>
            <a:r>
              <a:rPr lang="en-US" sz="1300" dirty="0">
                <a:solidFill>
                  <a:srgbClr val="12805C"/>
                </a:solidFill>
                <a:latin typeface="Courier New" pitchFamily="34" charset="0"/>
                <a:ea typeface="Courier New" pitchFamily="34" charset="-122"/>
                <a:cs typeface="Courier New" pitchFamily="34" charset="-120"/>
              </a:rPr>
              <a:t>PureAnalytics</a:t>
            </a:r>
            <a:r>
              <a:rPr lang="en-US" sz="1300" dirty="0">
                <a:solidFill>
                  <a:srgbClr val="5C6675"/>
                </a:solidFill>
                <a:latin typeface="Calibri" pitchFamily="34" charset="0"/>
                <a:ea typeface="Calibri" pitchFamily="34" charset="-122"/>
                <a:cs typeface="Calibri" pitchFamily="34" charset="-120"/>
              </a:rPr>
              <a:t> decides </a:t>
            </a:r>
            <a:r>
              <a:rPr lang="en-US" sz="1300" b="1" dirty="0">
                <a:solidFill>
                  <a:srgbClr val="141821"/>
                </a:solidFill>
                <a:latin typeface="Calibri" pitchFamily="34" charset="0"/>
                <a:ea typeface="Calibri" pitchFamily="34" charset="-122"/>
                <a:cs typeface="Calibri" pitchFamily="34" charset="-120"/>
              </a:rPr>
              <a:t>what it means</a:t>
            </a:r>
            <a:r>
              <a:rPr lang="en-US" sz="1300" dirty="0">
                <a:solidFill>
                  <a:srgbClr val="5C6675"/>
                </a:solidFill>
                <a:latin typeface="Calibri" pitchFamily="34" charset="0"/>
                <a:ea typeface="Calibri" pitchFamily="34" charset="-122"/>
                <a:cs typeface="Calibri" pitchFamily="34" charset="-120"/>
              </a:rPr>
              <a:t>.</a:t>
            </a:r>
            <a:endParaRPr lang="en-US" sz="1300" dirty="0"/>
          </a:p>
        </p:txBody>
      </p:sp>
      <p:sp>
        <p:nvSpPr>
          <p:cNvPr id="24" name="Shape 22"/>
          <p:cNvSpPr/>
          <p:nvPr/>
        </p:nvSpPr>
        <p:spPr>
          <a:xfrm>
            <a:off x="6949440" y="4434840"/>
            <a:ext cx="4572000" cy="1600200"/>
          </a:xfrm>
          <a:prstGeom prst="roundRect">
            <a:avLst>
              <a:gd name="adj" fmla="val 4571"/>
            </a:avLst>
          </a:prstGeom>
          <a:solidFill>
            <a:srgbClr val="F3F5F7"/>
          </a:solidFill>
          <a:ln w="12700">
            <a:solidFill>
              <a:srgbClr val="DDE2E8"/>
            </a:solidFill>
            <a:prstDash val="solid"/>
          </a:ln>
        </p:spPr>
      </p:sp>
      <p:sp>
        <p:nvSpPr>
          <p:cNvPr id="25" name="Text 23"/>
          <p:cNvSpPr txBox="1"/>
          <p:nvPr/>
        </p:nvSpPr>
        <p:spPr>
          <a:xfrm>
            <a:off x="7223760" y="4645152"/>
            <a:ext cx="1645920" cy="548640"/>
          </a:xfrm>
          <a:prstGeom prst="rect">
            <a:avLst/>
          </a:prstGeom>
          <a:noFill/>
          <a:ln/>
        </p:spPr>
        <p:txBody>
          <a:bodyPr wrap="square" lIns="0" tIns="0" rIns="0" bIns="0" rtlCol="0" anchor="ctr"/>
          <a:lstStyle/>
          <a:p>
            <a:pPr marL="0" indent="0">
              <a:buNone/>
            </a:pPr>
            <a:r>
              <a:rPr lang="en-US" sz="3800" b="1" dirty="0">
                <a:solidFill>
                  <a:srgbClr val="12805C"/>
                </a:solidFill>
                <a:latin typeface="Cambria" pitchFamily="34" charset="0"/>
                <a:ea typeface="Cambria" pitchFamily="34" charset="-122"/>
                <a:cs typeface="Cambria" pitchFamily="34" charset="-120"/>
              </a:rPr>
              <a:t>6 </a:t>
            </a:r>
            <a:r>
              <a:rPr lang="en-US" sz="3800" b="1">
                <a:solidFill>
                  <a:srgbClr val="12805C"/>
                </a:solidFill>
                <a:latin typeface="Cambria" pitchFamily="34" charset="0"/>
                <a:ea typeface="Cambria" pitchFamily="34" charset="-122"/>
                <a:cs typeface="Cambria" pitchFamily="34" charset="-120"/>
              </a:rPr>
              <a:t>of 7</a:t>
            </a:r>
            <a:endParaRPr lang="en-US" sz="3800" dirty="0"/>
          </a:p>
        </p:txBody>
      </p:sp>
      <p:sp>
        <p:nvSpPr>
          <p:cNvPr id="26" name="Text 24"/>
          <p:cNvSpPr txBox="1"/>
          <p:nvPr/>
        </p:nvSpPr>
        <p:spPr>
          <a:xfrm>
            <a:off x="8778240" y="4617720"/>
            <a:ext cx="2606040" cy="1280160"/>
          </a:xfrm>
          <a:prstGeom prst="rect">
            <a:avLst/>
          </a:prstGeom>
          <a:noFill/>
          <a:ln/>
        </p:spPr>
        <p:txBody>
          <a:bodyPr wrap="square" lIns="0" tIns="0" rIns="0" bIns="0" rtlCol="0" anchor="t"/>
          <a:lstStyle/>
          <a:p>
            <a:pPr marL="0" indent="0">
              <a:buNone/>
            </a:pPr>
            <a:r>
              <a:rPr lang="en-US" sz="1150" dirty="0">
                <a:solidFill>
                  <a:srgbClr val="5C6675"/>
                </a:solidFill>
                <a:latin typeface="Calibri" pitchFamily="34" charset="0"/>
                <a:ea typeface="Calibri" pitchFamily="34" charset="-122"/>
                <a:cs typeface="Calibri" pitchFamily="34" charset="-120"/>
              </a:rPr>
              <a:t>test suites run with no Spark session at all — the analytics logic is verified in milliseconds, by plain assertions.</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881360" cy="685800"/>
          </a:xfrm>
          <a:prstGeom prst="rect">
            <a:avLst/>
          </a:prstGeom>
          <a:noFill/>
          <a:ln/>
        </p:spPr>
        <p:txBody>
          <a:bodyPr wrap="square" lIns="0" tIns="0" rIns="0" bIns="0" rtlCol="0" anchor="ctr"/>
          <a:lstStyle/>
          <a:p>
            <a:pPr marL="0" indent="0">
              <a:buNone/>
            </a:pPr>
            <a:r>
              <a:rPr lang="en-US" sz="3400" b="1" dirty="0">
                <a:solidFill>
                  <a:srgbClr val="141821"/>
                </a:solidFill>
                <a:latin typeface="Cambria" pitchFamily="34" charset="0"/>
                <a:ea typeface="Cambria" pitchFamily="34" charset="-122"/>
                <a:cs typeface="Cambria" pitchFamily="34" charset="-120"/>
              </a:rPr>
              <a:t>Functional Error Handling: Errors Are Data</a:t>
            </a:r>
            <a:endParaRPr lang="en-US" sz="3400" dirty="0"/>
          </a:p>
        </p:txBody>
      </p:sp>
      <p:sp>
        <p:nvSpPr>
          <p:cNvPr id="3" name="Text 1"/>
          <p:cNvSpPr txBox="1"/>
          <p:nvPr/>
        </p:nvSpPr>
        <p:spPr>
          <a:xfrm>
            <a:off x="640080" y="1234440"/>
            <a:ext cx="10881360" cy="365760"/>
          </a:xfrm>
          <a:prstGeom prst="rect">
            <a:avLst/>
          </a:prstGeom>
          <a:noFill/>
          <a:ln/>
        </p:spPr>
        <p:txBody>
          <a:bodyPr wrap="square" lIns="0" tIns="0" rIns="0" bIns="0" rtlCol="0" anchor="ctr"/>
          <a:lstStyle/>
          <a:p>
            <a:pPr marL="0" indent="0">
              <a:buNone/>
            </a:pPr>
            <a:r>
              <a:rPr lang="en-US" sz="1500" i="1" dirty="0">
                <a:solidFill>
                  <a:srgbClr val="5C6675"/>
                </a:solidFill>
                <a:latin typeface="Calibri" pitchFamily="34" charset="0"/>
                <a:ea typeface="Calibri" pitchFamily="34" charset="-122"/>
                <a:cs typeface="Calibri" pitchFamily="34" charset="-120"/>
              </a:rPr>
              <a:t>We corrupt our own input on purpose — 20 of the 15,000 lines are broken by design.</a:t>
            </a:r>
            <a:endParaRPr lang="en-US" sz="1500" dirty="0"/>
          </a:p>
        </p:txBody>
      </p:sp>
      <p:sp>
        <p:nvSpPr>
          <p:cNvPr id="4" name="Shape 2"/>
          <p:cNvSpPr/>
          <p:nvPr/>
        </p:nvSpPr>
        <p:spPr>
          <a:xfrm>
            <a:off x="640080" y="1783080"/>
            <a:ext cx="7863840" cy="603504"/>
          </a:xfrm>
          <a:prstGeom prst="roundRect">
            <a:avLst>
              <a:gd name="adj" fmla="val 9091"/>
            </a:avLst>
          </a:prstGeom>
          <a:solidFill>
            <a:srgbClr val="11161E"/>
          </a:solidFill>
          <a:ln w="12700">
            <a:solidFill>
              <a:srgbClr val="11161E"/>
            </a:solidFill>
            <a:prstDash val="solid"/>
          </a:ln>
        </p:spPr>
      </p:sp>
      <p:sp>
        <p:nvSpPr>
          <p:cNvPr id="5" name="Text 3"/>
          <p:cNvSpPr txBox="1"/>
          <p:nvPr/>
        </p:nvSpPr>
        <p:spPr>
          <a:xfrm>
            <a:off x="786384" y="1874520"/>
            <a:ext cx="7571232" cy="420624"/>
          </a:xfrm>
          <a:prstGeom prst="rect">
            <a:avLst/>
          </a:prstGeom>
          <a:noFill/>
          <a:ln/>
        </p:spPr>
        <p:txBody>
          <a:bodyPr wrap="square" lIns="0" tIns="0" rIns="0" bIns="0" rtlCol="0" anchor="ctr"/>
          <a:lstStyle/>
          <a:p>
            <a:pPr marL="0" indent="0">
              <a:buNone/>
            </a:pPr>
            <a:r>
              <a:rPr lang="en-US" sz="1300" dirty="0">
                <a:solidFill>
                  <a:srgbClr val="6EE7B7"/>
                </a:solidFill>
                <a:latin typeface="Courier New" pitchFamily="34" charset="0"/>
                <a:ea typeface="Courier New" pitchFamily="34" charset="-122"/>
                <a:cs typeface="Courier New" pitchFamily="34" charset="-120"/>
              </a:rPr>
              <a:t>def parseTransaction(line: String): Either[ParseError, Transaction]</a:t>
            </a:r>
            <a:endParaRPr lang="en-US" sz="1300" dirty="0"/>
          </a:p>
        </p:txBody>
      </p:sp>
      <p:sp>
        <p:nvSpPr>
          <p:cNvPr id="6" name="Text 4"/>
          <p:cNvSpPr txBox="1"/>
          <p:nvPr/>
        </p:nvSpPr>
        <p:spPr>
          <a:xfrm>
            <a:off x="640080" y="2606040"/>
            <a:ext cx="7863840" cy="292608"/>
          </a:xfrm>
          <a:prstGeom prst="rect">
            <a:avLst/>
          </a:prstGeom>
          <a:noFill/>
          <a:ln/>
        </p:spPr>
        <p:txBody>
          <a:bodyPr wrap="square" lIns="0" tIns="0" rIns="0" bIns="0" rtlCol="0" anchor="ctr"/>
          <a:lstStyle/>
          <a:p>
            <a:pPr marL="0" indent="0">
              <a:buNone/>
            </a:pPr>
            <a:r>
              <a:rPr lang="en-US" sz="1700" b="1" dirty="0">
                <a:solidFill>
                  <a:srgbClr val="141821"/>
                </a:solidFill>
                <a:latin typeface="Cambria" pitchFamily="34" charset="0"/>
                <a:ea typeface="Cambria" pitchFamily="34" charset="-122"/>
                <a:cs typeface="Cambria" pitchFamily="34" charset="-120"/>
              </a:rPr>
              <a:t>The parser never throws.</a:t>
            </a:r>
            <a:endParaRPr lang="en-US" sz="1700" dirty="0"/>
          </a:p>
        </p:txBody>
      </p:sp>
      <p:sp>
        <p:nvSpPr>
          <p:cNvPr id="7" name="Text 5"/>
          <p:cNvSpPr txBox="1"/>
          <p:nvPr/>
        </p:nvSpPr>
        <p:spPr>
          <a:xfrm>
            <a:off x="640080" y="2944368"/>
            <a:ext cx="7863840" cy="320040"/>
          </a:xfrm>
          <a:prstGeom prst="rect">
            <a:avLst/>
          </a:prstGeom>
          <a:noFill/>
          <a:ln/>
        </p:spPr>
        <p:txBody>
          <a:bodyPr wrap="square" lIns="0" tIns="0" rIns="0" bIns="0" rtlCol="0" anchor="ctr"/>
          <a:lstStyle/>
          <a:p>
            <a:pPr marL="0" indent="0">
              <a:buNone/>
            </a:pPr>
            <a:r>
              <a:rPr lang="en-US" sz="1300" dirty="0">
                <a:solidFill>
                  <a:srgbClr val="5C6675"/>
                </a:solidFill>
                <a:latin typeface="Calibri" pitchFamily="34" charset="0"/>
                <a:ea typeface="Calibri" pitchFamily="34" charset="-122"/>
                <a:cs typeface="Calibri" pitchFamily="34" charset="-120"/>
              </a:rPr>
              <a:t>It returns Right(transaction), or Left of a sealed ADT: </a:t>
            </a:r>
            <a:r>
              <a:rPr lang="en-US" sz="1300" b="1" dirty="0">
                <a:solidFill>
                  <a:srgbClr val="12805C"/>
                </a:solidFill>
                <a:latin typeface="Courier New" pitchFamily="34" charset="0"/>
                <a:ea typeface="Courier New" pitchFamily="34" charset="-122"/>
                <a:cs typeface="Courier New" pitchFamily="34" charset="-120"/>
              </a:rPr>
              <a:t>WrongFieldCount · NotANumber · OutOfRange · MissingField</a:t>
            </a:r>
            <a:endParaRPr lang="en-US" sz="1300" dirty="0"/>
          </a:p>
        </p:txBody>
      </p:sp>
      <p:sp>
        <p:nvSpPr>
          <p:cNvPr id="8" name="Shape 6"/>
          <p:cNvSpPr/>
          <p:nvPr/>
        </p:nvSpPr>
        <p:spPr>
          <a:xfrm>
            <a:off x="640080" y="3611880"/>
            <a:ext cx="3794760" cy="1828800"/>
          </a:xfrm>
          <a:prstGeom prst="roundRect">
            <a:avLst>
              <a:gd name="adj" fmla="val 4000"/>
            </a:avLst>
          </a:prstGeom>
          <a:solidFill>
            <a:srgbClr val="E4F7EF"/>
          </a:solidFill>
          <a:ln w="12700">
            <a:solidFill>
              <a:srgbClr val="BCE6D6"/>
            </a:solidFill>
            <a:prstDash val="solid"/>
          </a:ln>
        </p:spPr>
      </p:sp>
      <p:sp>
        <p:nvSpPr>
          <p:cNvPr id="9" name="Text 7"/>
          <p:cNvSpPr txBox="1"/>
          <p:nvPr/>
        </p:nvSpPr>
        <p:spPr>
          <a:xfrm>
            <a:off x="868680" y="3794760"/>
            <a:ext cx="3383280" cy="274320"/>
          </a:xfrm>
          <a:prstGeom prst="rect">
            <a:avLst/>
          </a:prstGeom>
          <a:noFill/>
          <a:ln/>
        </p:spPr>
        <p:txBody>
          <a:bodyPr wrap="square" lIns="0" tIns="0" rIns="0" bIns="0" rtlCol="0" anchor="ctr"/>
          <a:lstStyle/>
          <a:p>
            <a:pPr marL="0" indent="0">
              <a:buNone/>
            </a:pPr>
            <a:r>
              <a:rPr lang="en-US" sz="1300" b="1" dirty="0">
                <a:solidFill>
                  <a:srgbClr val="12805C"/>
                </a:solidFill>
                <a:latin typeface="Courier New" pitchFamily="34" charset="0"/>
                <a:ea typeface="Courier New" pitchFamily="34" charset="-122"/>
                <a:cs typeface="Courier New" pitchFamily="34" charset="-120"/>
              </a:rPr>
              <a:t>loadTransactions</a:t>
            </a:r>
            <a:endParaRPr lang="en-US" sz="1300" dirty="0"/>
          </a:p>
        </p:txBody>
      </p:sp>
      <p:sp>
        <p:nvSpPr>
          <p:cNvPr id="10" name="Text 8"/>
          <p:cNvSpPr txBox="1"/>
          <p:nvPr/>
        </p:nvSpPr>
        <p:spPr>
          <a:xfrm>
            <a:off x="868680" y="4160520"/>
            <a:ext cx="3383280" cy="1143000"/>
          </a:xfrm>
          <a:prstGeom prst="rect">
            <a:avLst/>
          </a:prstGeom>
          <a:noFill/>
          <a:ln/>
        </p:spPr>
        <p:txBody>
          <a:bodyPr wrap="square" lIns="0" tIns="0" rIns="0" bIns="0" rtlCol="0" anchor="ctr"/>
          <a:lstStyle/>
          <a:p>
            <a:pPr marL="0" indent="0">
              <a:buNone/>
            </a:pPr>
            <a:r>
              <a:rPr lang="en-US" sz="1200" dirty="0">
                <a:solidFill>
                  <a:srgbClr val="5C6675"/>
                </a:solidFill>
                <a:latin typeface="Calibri" pitchFamily="34" charset="0"/>
                <a:ea typeface="Calibri" pitchFamily="34" charset="-122"/>
                <a:cs typeface="Calibri" pitchFamily="34" charset="-120"/>
              </a:rPr>
              <a:t>flatMap keeps the successes — a None simply vanishes.</a:t>
            </a:r>
            <a:endParaRPr lang="en-US" sz="1200" dirty="0"/>
          </a:p>
          <a:p>
            <a:pPr marL="0" indent="0">
              <a:buNone/>
            </a:pPr>
            <a:endParaRPr lang="en-US" sz="1200" dirty="0"/>
          </a:p>
          <a:p>
            <a:pPr marL="0" indent="0">
              <a:buNone/>
            </a:pPr>
            <a:r>
              <a:rPr lang="en-US" sz="1200" dirty="0">
                <a:solidFill>
                  <a:srgbClr val="5C6675"/>
                </a:solidFill>
                <a:latin typeface="Calibri" pitchFamily="34" charset="0"/>
                <a:ea typeface="Calibri" pitchFamily="34" charset="-122"/>
                <a:cs typeface="Calibri" pitchFamily="34" charset="-120"/>
              </a:rPr>
              <a:t>14,980 rows analysed</a:t>
            </a:r>
            <a:endParaRPr lang="en-US" sz="1200" dirty="0"/>
          </a:p>
        </p:txBody>
      </p:sp>
      <p:sp>
        <p:nvSpPr>
          <p:cNvPr id="11" name="Shape 9"/>
          <p:cNvSpPr/>
          <p:nvPr/>
        </p:nvSpPr>
        <p:spPr>
          <a:xfrm>
            <a:off x="4709160" y="3611880"/>
            <a:ext cx="3794760" cy="1828800"/>
          </a:xfrm>
          <a:prstGeom prst="roundRect">
            <a:avLst>
              <a:gd name="adj" fmla="val 4000"/>
            </a:avLst>
          </a:prstGeom>
          <a:solidFill>
            <a:srgbClr val="FDF1DC"/>
          </a:solidFill>
          <a:ln w="12700">
            <a:solidFill>
              <a:srgbClr val="F0DCB8"/>
            </a:solidFill>
            <a:prstDash val="solid"/>
          </a:ln>
        </p:spPr>
      </p:sp>
      <p:sp>
        <p:nvSpPr>
          <p:cNvPr id="12" name="Text 10"/>
          <p:cNvSpPr txBox="1"/>
          <p:nvPr/>
        </p:nvSpPr>
        <p:spPr>
          <a:xfrm>
            <a:off x="4937760" y="3794760"/>
            <a:ext cx="3383280" cy="274320"/>
          </a:xfrm>
          <a:prstGeom prst="rect">
            <a:avLst/>
          </a:prstGeom>
          <a:noFill/>
          <a:ln/>
        </p:spPr>
        <p:txBody>
          <a:bodyPr wrap="square" lIns="0" tIns="0" rIns="0" bIns="0" rtlCol="0" anchor="ctr"/>
          <a:lstStyle/>
          <a:p>
            <a:pPr marL="0" indent="0">
              <a:buNone/>
            </a:pPr>
            <a:r>
              <a:rPr lang="en-US" sz="1200" b="1" dirty="0">
                <a:solidFill>
                  <a:srgbClr val="9A6412"/>
                </a:solidFill>
                <a:latin typeface="Courier New" pitchFamily="34" charset="0"/>
                <a:ea typeface="Courier New" pitchFamily="34" charset="-122"/>
                <a:cs typeface="Courier New" pitchFamily="34" charset="-120"/>
              </a:rPr>
              <a:t>loadRejectedTransactions</a:t>
            </a:r>
            <a:endParaRPr lang="en-US" sz="1200" dirty="0"/>
          </a:p>
        </p:txBody>
      </p:sp>
      <p:sp>
        <p:nvSpPr>
          <p:cNvPr id="13" name="Text 11"/>
          <p:cNvSpPr txBox="1"/>
          <p:nvPr/>
        </p:nvSpPr>
        <p:spPr>
          <a:xfrm>
            <a:off x="4937760" y="4160520"/>
            <a:ext cx="3383280" cy="1143000"/>
          </a:xfrm>
          <a:prstGeom prst="rect">
            <a:avLst/>
          </a:prstGeom>
          <a:noFill/>
          <a:ln/>
        </p:spPr>
        <p:txBody>
          <a:bodyPr wrap="square" lIns="0" tIns="0" rIns="0" bIns="0" rtlCol="0" anchor="ctr"/>
          <a:lstStyle/>
          <a:p>
            <a:pPr marL="0" indent="0">
              <a:buNone/>
            </a:pPr>
            <a:r>
              <a:rPr lang="en-US" sz="1200" dirty="0">
                <a:solidFill>
                  <a:srgbClr val="5C6675"/>
                </a:solidFill>
                <a:latin typeface="Calibri" pitchFamily="34" charset="0"/>
                <a:ea typeface="Calibri" pitchFamily="34" charset="-122"/>
                <a:cs typeface="Calibri" pitchFamily="34" charset="-120"/>
              </a:rPr>
              <a:t>flatMap keeps the failures — each with a readable reason.</a:t>
            </a:r>
            <a:endParaRPr lang="en-US" sz="1200" dirty="0"/>
          </a:p>
          <a:p>
            <a:pPr marL="0" indent="0">
              <a:buNone/>
            </a:pPr>
            <a:endParaRPr lang="en-US" sz="1200" dirty="0"/>
          </a:p>
          <a:p>
            <a:pPr marL="0" indent="0">
              <a:buNone/>
            </a:pPr>
            <a:r>
              <a:rPr lang="en-US" sz="1200" dirty="0">
                <a:solidFill>
                  <a:srgbClr val="5C6675"/>
                </a:solidFill>
                <a:latin typeface="Calibri" pitchFamily="34" charset="0"/>
                <a:ea typeface="Calibri" pitchFamily="34" charset="-122"/>
                <a:cs typeface="Calibri" pitchFamily="34" charset="-120"/>
              </a:rPr>
              <a:t>20 rows in the quality report</a:t>
            </a:r>
            <a:endParaRPr lang="en-US" sz="1200" dirty="0"/>
          </a:p>
        </p:txBody>
      </p:sp>
      <p:sp>
        <p:nvSpPr>
          <p:cNvPr id="14" name="Text 12"/>
          <p:cNvSpPr txBox="1"/>
          <p:nvPr/>
        </p:nvSpPr>
        <p:spPr>
          <a:xfrm>
            <a:off x="640080" y="5623560"/>
            <a:ext cx="7863840" cy="320040"/>
          </a:xfrm>
          <a:prstGeom prst="rect">
            <a:avLst/>
          </a:prstGeom>
          <a:noFill/>
          <a:ln/>
        </p:spPr>
        <p:txBody>
          <a:bodyPr wrap="square" lIns="0" tIns="0" rIns="0" bIns="0" rtlCol="0" anchor="ctr"/>
          <a:lstStyle/>
          <a:p>
            <a:pPr marL="0" indent="0">
              <a:buNone/>
            </a:pPr>
            <a:r>
              <a:rPr lang="en-US" sz="1300" i="1" dirty="0">
                <a:solidFill>
                  <a:srgbClr val="141821"/>
                </a:solidFill>
                <a:latin typeface="Calibri" pitchFamily="34" charset="0"/>
                <a:ea typeface="Calibri" pitchFamily="34" charset="-122"/>
                <a:cs typeface="Calibri" pitchFamily="34" charset="-120"/>
              </a:rPr>
              <a:t>The same pure parser, called twice.</a:t>
            </a:r>
            <a:endParaRPr lang="en-US" sz="1300" dirty="0"/>
          </a:p>
        </p:txBody>
      </p:sp>
      <p:sp>
        <p:nvSpPr>
          <p:cNvPr id="15" name="Shape 13"/>
          <p:cNvSpPr/>
          <p:nvPr/>
        </p:nvSpPr>
        <p:spPr>
          <a:xfrm>
            <a:off x="8869680" y="1783080"/>
            <a:ext cx="2651760" cy="3931920"/>
          </a:xfrm>
          <a:prstGeom prst="roundRect">
            <a:avLst>
              <a:gd name="adj" fmla="val 2759"/>
            </a:avLst>
          </a:prstGeom>
          <a:solidFill>
            <a:srgbClr val="0E1116"/>
          </a:solidFill>
          <a:ln w="12700">
            <a:solidFill>
              <a:srgbClr val="0E1116"/>
            </a:solidFill>
            <a:prstDash val="solid"/>
          </a:ln>
        </p:spPr>
      </p:sp>
      <p:sp>
        <p:nvSpPr>
          <p:cNvPr id="16" name="Text 14"/>
          <p:cNvSpPr txBox="1"/>
          <p:nvPr/>
        </p:nvSpPr>
        <p:spPr>
          <a:xfrm>
            <a:off x="9098280" y="2103120"/>
            <a:ext cx="2194560" cy="685800"/>
          </a:xfrm>
          <a:prstGeom prst="rect">
            <a:avLst/>
          </a:prstGeom>
          <a:noFill/>
          <a:ln/>
        </p:spPr>
        <p:txBody>
          <a:bodyPr wrap="square" lIns="0" tIns="0" rIns="0" bIns="0" rtlCol="0" anchor="ctr"/>
          <a:lstStyle/>
          <a:p>
            <a:pPr marL="0" indent="0">
              <a:buNone/>
            </a:pPr>
            <a:r>
              <a:rPr lang="en-US" sz="4600" b="1" dirty="0">
                <a:solidFill>
                  <a:srgbClr val="F5C265"/>
                </a:solidFill>
                <a:latin typeface="Cambria" pitchFamily="34" charset="0"/>
                <a:ea typeface="Cambria" pitchFamily="34" charset="-122"/>
                <a:cs typeface="Cambria" pitchFamily="34" charset="-120"/>
              </a:rPr>
              <a:t>20</a:t>
            </a:r>
            <a:endParaRPr lang="en-US" sz="4600" dirty="0"/>
          </a:p>
        </p:txBody>
      </p:sp>
      <p:sp>
        <p:nvSpPr>
          <p:cNvPr id="17" name="Text 15"/>
          <p:cNvSpPr txBox="1"/>
          <p:nvPr/>
        </p:nvSpPr>
        <p:spPr>
          <a:xfrm>
            <a:off x="9098280" y="2816352"/>
            <a:ext cx="2194560" cy="777240"/>
          </a:xfrm>
          <a:prstGeom prst="rect">
            <a:avLst/>
          </a:prstGeom>
          <a:noFill/>
          <a:ln/>
        </p:spPr>
        <p:txBody>
          <a:bodyPr wrap="square" lIns="0" tIns="0" rIns="0" bIns="0" rtlCol="0" anchor="ctr"/>
          <a:lstStyle/>
          <a:p>
            <a:pPr marL="0" indent="0">
              <a:buNone/>
            </a:pPr>
            <a:r>
              <a:rPr lang="en-US" sz="1200" dirty="0">
                <a:solidFill>
                  <a:srgbClr val="9AA3B2"/>
                </a:solidFill>
                <a:latin typeface="Calibri" pitchFamily="34" charset="0"/>
                <a:ea typeface="Calibri" pitchFamily="34" charset="-122"/>
                <a:cs typeface="Calibri" pitchFamily="34" charset="-120"/>
              </a:rPr>
              <a:t>corrupted lines</a:t>
            </a:r>
            <a:endParaRPr lang="en-US" sz="1200" dirty="0"/>
          </a:p>
          <a:p>
            <a:pPr marL="0" indent="0">
              <a:buNone/>
            </a:pPr>
            <a:r>
              <a:rPr lang="en-US" sz="1200" dirty="0">
                <a:solidFill>
                  <a:srgbClr val="9AA3B2"/>
                </a:solidFill>
                <a:latin typeface="Calibri" pitchFamily="34" charset="0"/>
                <a:ea typeface="Calibri" pitchFamily="34" charset="-122"/>
                <a:cs typeface="Calibri" pitchFamily="34" charset="-120"/>
              </a:rPr>
              <a:t>15 non-numeric price</a:t>
            </a:r>
            <a:endParaRPr lang="en-US" sz="1200" dirty="0"/>
          </a:p>
          <a:p>
            <a:pPr marL="0" indent="0">
              <a:buNone/>
            </a:pPr>
            <a:r>
              <a:rPr lang="en-US" sz="1200" dirty="0">
                <a:solidFill>
                  <a:srgbClr val="9AA3B2"/>
                </a:solidFill>
                <a:latin typeface="Calibri" pitchFamily="34" charset="0"/>
                <a:ea typeface="Calibri" pitchFamily="34" charset="-122"/>
                <a:cs typeface="Calibri" pitchFamily="34" charset="-120"/>
              </a:rPr>
              <a:t>5 missing a field</a:t>
            </a:r>
            <a:endParaRPr lang="en-US" sz="1200" dirty="0"/>
          </a:p>
        </p:txBody>
      </p:sp>
      <p:sp>
        <p:nvSpPr>
          <p:cNvPr id="18" name="Text 16"/>
          <p:cNvSpPr txBox="1"/>
          <p:nvPr/>
        </p:nvSpPr>
        <p:spPr>
          <a:xfrm>
            <a:off x="9098280" y="3794760"/>
            <a:ext cx="2194560" cy="685800"/>
          </a:xfrm>
          <a:prstGeom prst="rect">
            <a:avLst/>
          </a:prstGeom>
          <a:noFill/>
          <a:ln/>
        </p:spPr>
        <p:txBody>
          <a:bodyPr wrap="square" lIns="0" tIns="0" rIns="0" bIns="0" rtlCol="0" anchor="ctr"/>
          <a:lstStyle/>
          <a:p>
            <a:pPr marL="0" indent="0">
              <a:buNone/>
            </a:pPr>
            <a:r>
              <a:rPr lang="en-US" sz="4600" b="1" dirty="0">
                <a:solidFill>
                  <a:srgbClr val="6EE7B7"/>
                </a:solidFill>
                <a:latin typeface="Cambria" pitchFamily="34" charset="0"/>
                <a:ea typeface="Cambria" pitchFamily="34" charset="-122"/>
                <a:cs typeface="Cambria" pitchFamily="34" charset="-120"/>
              </a:rPr>
              <a:t>0</a:t>
            </a:r>
            <a:endParaRPr lang="en-US" sz="4600" dirty="0"/>
          </a:p>
        </p:txBody>
      </p:sp>
      <p:sp>
        <p:nvSpPr>
          <p:cNvPr id="19" name="Text 17"/>
          <p:cNvSpPr txBox="1"/>
          <p:nvPr/>
        </p:nvSpPr>
        <p:spPr>
          <a:xfrm>
            <a:off x="9098280" y="4526280"/>
            <a:ext cx="2194560" cy="914400"/>
          </a:xfrm>
          <a:prstGeom prst="rect">
            <a:avLst/>
          </a:prstGeom>
          <a:noFill/>
          <a:ln/>
        </p:spPr>
        <p:txBody>
          <a:bodyPr wrap="square" lIns="0" tIns="0" rIns="0" bIns="0" rtlCol="0" anchor="ctr"/>
          <a:lstStyle/>
          <a:p>
            <a:pPr marL="0" indent="0">
              <a:buNone/>
            </a:pPr>
            <a:r>
              <a:rPr lang="en-US" sz="1200" dirty="0">
                <a:solidFill>
                  <a:srgbClr val="9AA3B2"/>
                </a:solidFill>
                <a:latin typeface="Calibri" pitchFamily="34" charset="0"/>
                <a:ea typeface="Calibri" pitchFamily="34" charset="-122"/>
                <a:cs typeface="Calibri" pitchFamily="34" charset="-120"/>
              </a:rPr>
              <a:t>exceptions thrown.</a:t>
            </a:r>
            <a:endParaRPr lang="en-US" sz="1200" dirty="0"/>
          </a:p>
          <a:p>
            <a:pPr marL="0" indent="0">
              <a:buNone/>
            </a:pPr>
            <a:r>
              <a:rPr lang="en-US" sz="1200" dirty="0">
                <a:solidFill>
                  <a:srgbClr val="9AA3B2"/>
                </a:solidFill>
                <a:latin typeface="Calibri" pitchFamily="34" charset="0"/>
                <a:ea typeface="Calibri" pitchFamily="34" charset="-122"/>
                <a:cs typeface="Calibri" pitchFamily="34" charset="-120"/>
              </a:rPr>
              <a:t>A broken line becomes a row in a report, not a crash.</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881360" cy="685800"/>
          </a:xfrm>
          <a:prstGeom prst="rect">
            <a:avLst/>
          </a:prstGeom>
          <a:noFill/>
          <a:ln/>
        </p:spPr>
        <p:txBody>
          <a:bodyPr wrap="square" lIns="0" tIns="0" rIns="0" bIns="0" rtlCol="0" anchor="ctr"/>
          <a:lstStyle/>
          <a:p>
            <a:pPr marL="0" indent="0">
              <a:buNone/>
            </a:pPr>
            <a:r>
              <a:rPr lang="en-US" sz="3400" b="1" dirty="0">
                <a:solidFill>
                  <a:srgbClr val="141821"/>
                </a:solidFill>
                <a:latin typeface="Cambria" pitchFamily="34" charset="0"/>
                <a:ea typeface="Cambria" pitchFamily="34" charset="-122"/>
                <a:cs typeface="Cambria" pitchFamily="34" charset="-120"/>
              </a:rPr>
              <a:t>Advanced Functional Techniques</a:t>
            </a:r>
            <a:endParaRPr lang="en-US" sz="3400" dirty="0"/>
          </a:p>
        </p:txBody>
      </p:sp>
      <p:sp>
        <p:nvSpPr>
          <p:cNvPr id="3" name="Text 1"/>
          <p:cNvSpPr txBox="1"/>
          <p:nvPr/>
        </p:nvSpPr>
        <p:spPr>
          <a:xfrm>
            <a:off x="640080" y="1234440"/>
            <a:ext cx="10881360" cy="365760"/>
          </a:xfrm>
          <a:prstGeom prst="rect">
            <a:avLst/>
          </a:prstGeom>
          <a:noFill/>
          <a:ln/>
        </p:spPr>
        <p:txBody>
          <a:bodyPr wrap="square" lIns="0" tIns="0" rIns="0" bIns="0" rtlCol="0" anchor="ctr"/>
          <a:lstStyle/>
          <a:p>
            <a:pPr marL="0" indent="0">
              <a:buNone/>
            </a:pPr>
            <a:r>
              <a:rPr lang="en-US" sz="1500" i="1" dirty="0">
                <a:solidFill>
                  <a:srgbClr val="5C6675"/>
                </a:solidFill>
                <a:latin typeface="Calibri" pitchFamily="34" charset="0"/>
                <a:ea typeface="Calibri" pitchFamily="34" charset="-122"/>
                <a:cs typeface="Calibri" pitchFamily="34" charset="-120"/>
              </a:rPr>
              <a:t>Three required — five implemented, each tagged in the source.</a:t>
            </a:r>
            <a:endParaRPr lang="en-US" sz="1500" dirty="0"/>
          </a:p>
        </p:txBody>
      </p:sp>
      <p:sp>
        <p:nvSpPr>
          <p:cNvPr id="4" name="Shape 2"/>
          <p:cNvSpPr/>
          <p:nvPr/>
        </p:nvSpPr>
        <p:spPr>
          <a:xfrm>
            <a:off x="640080" y="1874520"/>
            <a:ext cx="10881360" cy="1298448"/>
          </a:xfrm>
          <a:prstGeom prst="roundRect">
            <a:avLst>
              <a:gd name="adj" fmla="val 5634"/>
            </a:avLst>
          </a:prstGeom>
          <a:solidFill>
            <a:srgbClr val="F3F5F7"/>
          </a:solidFill>
          <a:ln w="12700">
            <a:solidFill>
              <a:srgbClr val="DDE2E8"/>
            </a:solidFill>
            <a:prstDash val="solid"/>
          </a:ln>
        </p:spPr>
      </p:sp>
      <p:sp>
        <p:nvSpPr>
          <p:cNvPr id="5" name="Shape 3"/>
          <p:cNvSpPr/>
          <p:nvPr/>
        </p:nvSpPr>
        <p:spPr>
          <a:xfrm>
            <a:off x="868680" y="2267712"/>
            <a:ext cx="502920" cy="502920"/>
          </a:xfrm>
          <a:prstGeom prst="ellipse">
            <a:avLst/>
          </a:prstGeom>
          <a:solidFill>
            <a:srgbClr val="12805C"/>
          </a:solidFill>
          <a:ln/>
        </p:spPr>
      </p:sp>
      <p:sp>
        <p:nvSpPr>
          <p:cNvPr id="6" name="Text 4"/>
          <p:cNvSpPr txBox="1"/>
          <p:nvPr/>
        </p:nvSpPr>
        <p:spPr>
          <a:xfrm>
            <a:off x="868680" y="2340864"/>
            <a:ext cx="50292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1572768" y="2057400"/>
            <a:ext cx="4663440" cy="310896"/>
          </a:xfrm>
          <a:prstGeom prst="rect">
            <a:avLst/>
          </a:prstGeom>
          <a:noFill/>
          <a:ln/>
        </p:spPr>
        <p:txBody>
          <a:bodyPr wrap="square" lIns="0" tIns="0" rIns="0" bIns="0" rtlCol="0" anchor="ctr"/>
          <a:lstStyle/>
          <a:p>
            <a:pPr marL="0" indent="0">
              <a:buNone/>
            </a:pPr>
            <a:r>
              <a:rPr lang="en-US" sz="1600" b="1" dirty="0">
                <a:solidFill>
                  <a:srgbClr val="141821"/>
                </a:solidFill>
                <a:latin typeface="Cambria" pitchFamily="34" charset="0"/>
                <a:ea typeface="Cambria" pitchFamily="34" charset="-122"/>
                <a:cs typeface="Cambria" pitchFamily="34" charset="-120"/>
              </a:rPr>
              <a:t>A custom combinator, built from scratch</a:t>
            </a:r>
            <a:endParaRPr lang="en-US" sz="1600" dirty="0"/>
          </a:p>
        </p:txBody>
      </p:sp>
      <p:sp>
        <p:nvSpPr>
          <p:cNvPr id="8" name="Text 6"/>
          <p:cNvSpPr txBox="1"/>
          <p:nvPr/>
        </p:nvSpPr>
        <p:spPr>
          <a:xfrm>
            <a:off x="1572768" y="2423160"/>
            <a:ext cx="4663440" cy="685800"/>
          </a:xfrm>
          <a:prstGeom prst="rect">
            <a:avLst/>
          </a:prstGeom>
          <a:noFill/>
          <a:ln/>
        </p:spPr>
        <p:txBody>
          <a:bodyPr wrap="square" lIns="0" tIns="0" rIns="0" bIns="0" rtlCol="0" anchor="ctr"/>
          <a:lstStyle/>
          <a:p>
            <a:pPr marL="0" indent="0">
              <a:buNone/>
            </a:pPr>
            <a:r>
              <a:rPr lang="en-US" sz="1150" dirty="0">
                <a:solidFill>
                  <a:srgbClr val="5C6675"/>
                </a:solidFill>
                <a:latin typeface="Calibri" pitchFamily="34" charset="0"/>
                <a:ea typeface="Calibri" pitchFamily="34" charset="-122"/>
                <a:cs typeface="Calibri" pitchFamily="34" charset="-120"/>
              </a:rPr>
              <a:t>Transform is our own function type — deliberately not Function1.andThen. Unit-tested as an algebra: ~&gt; is associative, identity is its neutral element.</a:t>
            </a:r>
            <a:endParaRPr lang="en-US" sz="1150" dirty="0"/>
          </a:p>
        </p:txBody>
      </p:sp>
      <p:sp>
        <p:nvSpPr>
          <p:cNvPr id="9" name="Shape 7"/>
          <p:cNvSpPr/>
          <p:nvPr/>
        </p:nvSpPr>
        <p:spPr>
          <a:xfrm>
            <a:off x="6492240" y="2249424"/>
            <a:ext cx="4800600" cy="548640"/>
          </a:xfrm>
          <a:prstGeom prst="roundRect">
            <a:avLst>
              <a:gd name="adj" fmla="val 10000"/>
            </a:avLst>
          </a:prstGeom>
          <a:solidFill>
            <a:srgbClr val="11161E"/>
          </a:solidFill>
          <a:ln w="12700">
            <a:solidFill>
              <a:srgbClr val="11161E"/>
            </a:solidFill>
            <a:prstDash val="solid"/>
          </a:ln>
        </p:spPr>
      </p:sp>
      <p:sp>
        <p:nvSpPr>
          <p:cNvPr id="10" name="Text 8"/>
          <p:cNvSpPr txBox="1"/>
          <p:nvPr/>
        </p:nvSpPr>
        <p:spPr>
          <a:xfrm>
            <a:off x="6638544" y="2340864"/>
            <a:ext cx="4507992" cy="365760"/>
          </a:xfrm>
          <a:prstGeom prst="rect">
            <a:avLst/>
          </a:prstGeom>
          <a:noFill/>
          <a:ln/>
        </p:spPr>
        <p:txBody>
          <a:bodyPr wrap="square" lIns="0" tIns="0" rIns="0" bIns="0" rtlCol="0" anchor="ctr"/>
          <a:lstStyle/>
          <a:p>
            <a:pPr marL="0" indent="0">
              <a:buNone/>
            </a:pPr>
            <a:r>
              <a:rPr lang="en-US" sz="1100" dirty="0">
                <a:solidFill>
                  <a:srgbClr val="6EE7B7"/>
                </a:solidFill>
                <a:latin typeface="Courier New" pitchFamily="34" charset="0"/>
                <a:ea typeface="Courier New" pitchFamily="34" charset="-122"/>
                <a:cs typeface="Courier New" pitchFamily="34" charset="-120"/>
              </a:rPr>
              <a:t>val pipeline = readRevenue ~&gt; classify ~&gt; labelOf</a:t>
            </a:r>
            <a:endParaRPr lang="en-US" sz="1100" dirty="0"/>
          </a:p>
        </p:txBody>
      </p:sp>
      <p:sp>
        <p:nvSpPr>
          <p:cNvPr id="11" name="Shape 9"/>
          <p:cNvSpPr/>
          <p:nvPr/>
        </p:nvSpPr>
        <p:spPr>
          <a:xfrm>
            <a:off x="640080" y="3355848"/>
            <a:ext cx="10881360" cy="1298448"/>
          </a:xfrm>
          <a:prstGeom prst="roundRect">
            <a:avLst>
              <a:gd name="adj" fmla="val 5634"/>
            </a:avLst>
          </a:prstGeom>
          <a:solidFill>
            <a:srgbClr val="F3F5F7"/>
          </a:solidFill>
          <a:ln w="12700">
            <a:solidFill>
              <a:srgbClr val="DDE2E8"/>
            </a:solidFill>
            <a:prstDash val="solid"/>
          </a:ln>
        </p:spPr>
      </p:sp>
      <p:sp>
        <p:nvSpPr>
          <p:cNvPr id="12" name="Shape 10"/>
          <p:cNvSpPr/>
          <p:nvPr/>
        </p:nvSpPr>
        <p:spPr>
          <a:xfrm>
            <a:off x="868680" y="3749040"/>
            <a:ext cx="502920" cy="502920"/>
          </a:xfrm>
          <a:prstGeom prst="ellipse">
            <a:avLst/>
          </a:prstGeom>
          <a:solidFill>
            <a:srgbClr val="12805C"/>
          </a:solidFill>
          <a:ln/>
        </p:spPr>
      </p:sp>
      <p:sp>
        <p:nvSpPr>
          <p:cNvPr id="13" name="Text 11"/>
          <p:cNvSpPr txBox="1"/>
          <p:nvPr/>
        </p:nvSpPr>
        <p:spPr>
          <a:xfrm>
            <a:off x="868680" y="3822192"/>
            <a:ext cx="50292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2"/>
          <p:cNvSpPr txBox="1"/>
          <p:nvPr/>
        </p:nvSpPr>
        <p:spPr>
          <a:xfrm>
            <a:off x="1572768" y="3538728"/>
            <a:ext cx="4663440" cy="310896"/>
          </a:xfrm>
          <a:prstGeom prst="rect">
            <a:avLst/>
          </a:prstGeom>
          <a:noFill/>
          <a:ln/>
        </p:spPr>
        <p:txBody>
          <a:bodyPr wrap="square" lIns="0" tIns="0" rIns="0" bIns="0" rtlCol="0" anchor="ctr"/>
          <a:lstStyle/>
          <a:p>
            <a:pPr marL="0" indent="0">
              <a:buNone/>
            </a:pPr>
            <a:r>
              <a:rPr lang="en-US" sz="1600" b="1" dirty="0">
                <a:solidFill>
                  <a:srgbClr val="141821"/>
                </a:solidFill>
                <a:latin typeface="Cambria" pitchFamily="34" charset="0"/>
                <a:ea typeface="Cambria" pitchFamily="34" charset="-122"/>
                <a:cs typeface="Cambria" pitchFamily="34" charset="-120"/>
              </a:rPr>
              <a:t>Tail-recursive Pareto analysis</a:t>
            </a:r>
            <a:endParaRPr lang="en-US" sz="1600" dirty="0"/>
          </a:p>
        </p:txBody>
      </p:sp>
      <p:sp>
        <p:nvSpPr>
          <p:cNvPr id="15" name="Text 13"/>
          <p:cNvSpPr txBox="1"/>
          <p:nvPr/>
        </p:nvSpPr>
        <p:spPr>
          <a:xfrm>
            <a:off x="1572768" y="3904488"/>
            <a:ext cx="4663440" cy="685800"/>
          </a:xfrm>
          <a:prstGeom prst="rect">
            <a:avLst/>
          </a:prstGeom>
          <a:noFill/>
          <a:ln/>
        </p:spPr>
        <p:txBody>
          <a:bodyPr wrap="square" lIns="0" tIns="0" rIns="0" bIns="0" rtlCol="0" anchor="ctr"/>
          <a:lstStyle/>
          <a:p>
            <a:pPr marL="0" indent="0">
              <a:buNone/>
            </a:pPr>
            <a:r>
              <a:rPr lang="en-US" sz="1150" dirty="0">
                <a:solidFill>
                  <a:srgbClr val="5C6675"/>
                </a:solidFill>
                <a:latin typeface="Calibri" pitchFamily="34" charset="0"/>
                <a:ea typeface="Calibri" pitchFamily="34" charset="-122"/>
                <a:cs typeface="Calibri" pitchFamily="34" charset="-120"/>
              </a:rPr>
              <a:t>The annotation makes the compiler itself guarantee the recursion becomes a loop — constant stack on any input size.</a:t>
            </a:r>
            <a:endParaRPr lang="en-US" sz="1150" dirty="0"/>
          </a:p>
        </p:txBody>
      </p:sp>
      <p:sp>
        <p:nvSpPr>
          <p:cNvPr id="16" name="Shape 14"/>
          <p:cNvSpPr/>
          <p:nvPr/>
        </p:nvSpPr>
        <p:spPr>
          <a:xfrm>
            <a:off x="6492240" y="3730752"/>
            <a:ext cx="4800600" cy="548640"/>
          </a:xfrm>
          <a:prstGeom prst="roundRect">
            <a:avLst>
              <a:gd name="adj" fmla="val 10000"/>
            </a:avLst>
          </a:prstGeom>
          <a:solidFill>
            <a:srgbClr val="11161E"/>
          </a:solidFill>
          <a:ln w="12700">
            <a:solidFill>
              <a:srgbClr val="11161E"/>
            </a:solidFill>
            <a:prstDash val="solid"/>
          </a:ln>
        </p:spPr>
      </p:sp>
      <p:sp>
        <p:nvSpPr>
          <p:cNvPr id="17" name="Text 15"/>
          <p:cNvSpPr txBox="1"/>
          <p:nvPr/>
        </p:nvSpPr>
        <p:spPr>
          <a:xfrm>
            <a:off x="6638544" y="3822192"/>
            <a:ext cx="4507992" cy="365760"/>
          </a:xfrm>
          <a:prstGeom prst="rect">
            <a:avLst/>
          </a:prstGeom>
          <a:noFill/>
          <a:ln/>
        </p:spPr>
        <p:txBody>
          <a:bodyPr wrap="square" lIns="0" tIns="0" rIns="0" bIns="0" rtlCol="0" anchor="ctr"/>
          <a:lstStyle/>
          <a:p>
            <a:pPr marL="0" indent="0">
              <a:buNone/>
            </a:pPr>
            <a:r>
              <a:rPr lang="en-US" sz="1100" dirty="0">
                <a:solidFill>
                  <a:srgbClr val="6EE7B7"/>
                </a:solidFill>
                <a:latin typeface="Courier New" pitchFamily="34" charset="0"/>
                <a:ea typeface="Courier New" pitchFamily="34" charset="-122"/>
                <a:cs typeface="Courier New" pitchFamily="34" charset="-120"/>
              </a:rPr>
              <a:t>@tailrec def loop(remaining, running, built)</a:t>
            </a:r>
            <a:endParaRPr lang="en-US" sz="1100" dirty="0"/>
          </a:p>
        </p:txBody>
      </p:sp>
      <p:sp>
        <p:nvSpPr>
          <p:cNvPr id="18" name="Shape 16"/>
          <p:cNvSpPr/>
          <p:nvPr/>
        </p:nvSpPr>
        <p:spPr>
          <a:xfrm>
            <a:off x="640080" y="4837176"/>
            <a:ext cx="10881360" cy="1298448"/>
          </a:xfrm>
          <a:prstGeom prst="roundRect">
            <a:avLst>
              <a:gd name="adj" fmla="val 5634"/>
            </a:avLst>
          </a:prstGeom>
          <a:solidFill>
            <a:srgbClr val="F3F5F7"/>
          </a:solidFill>
          <a:ln w="12700">
            <a:solidFill>
              <a:srgbClr val="DDE2E8"/>
            </a:solidFill>
            <a:prstDash val="solid"/>
          </a:ln>
        </p:spPr>
      </p:sp>
      <p:sp>
        <p:nvSpPr>
          <p:cNvPr id="19" name="Shape 17"/>
          <p:cNvSpPr/>
          <p:nvPr/>
        </p:nvSpPr>
        <p:spPr>
          <a:xfrm>
            <a:off x="868680" y="5230368"/>
            <a:ext cx="502920" cy="502920"/>
          </a:xfrm>
          <a:prstGeom prst="ellipse">
            <a:avLst/>
          </a:prstGeom>
          <a:solidFill>
            <a:srgbClr val="12805C"/>
          </a:solidFill>
          <a:ln/>
        </p:spPr>
      </p:sp>
      <p:sp>
        <p:nvSpPr>
          <p:cNvPr id="20" name="Text 18"/>
          <p:cNvSpPr txBox="1"/>
          <p:nvPr/>
        </p:nvSpPr>
        <p:spPr>
          <a:xfrm>
            <a:off x="868680" y="5303520"/>
            <a:ext cx="502920" cy="36576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1" name="Text 19"/>
          <p:cNvSpPr txBox="1"/>
          <p:nvPr/>
        </p:nvSpPr>
        <p:spPr>
          <a:xfrm>
            <a:off x="1572768" y="5020056"/>
            <a:ext cx="4663440" cy="310896"/>
          </a:xfrm>
          <a:prstGeom prst="rect">
            <a:avLst/>
          </a:prstGeom>
          <a:noFill/>
          <a:ln/>
        </p:spPr>
        <p:txBody>
          <a:bodyPr wrap="square" lIns="0" tIns="0" rIns="0" bIns="0" rtlCol="0" anchor="ctr"/>
          <a:lstStyle/>
          <a:p>
            <a:pPr marL="0" indent="0">
              <a:buNone/>
            </a:pPr>
            <a:r>
              <a:rPr lang="en-US" sz="1600" b="1" dirty="0">
                <a:solidFill>
                  <a:srgbClr val="141821"/>
                </a:solidFill>
                <a:latin typeface="Cambria" pitchFamily="34" charset="0"/>
                <a:ea typeface="Cambria" pitchFamily="34" charset="-122"/>
                <a:cs typeface="Cambria" pitchFamily="34" charset="-120"/>
              </a:rPr>
              <a:t>Closures shipped to the executors</a:t>
            </a:r>
            <a:endParaRPr lang="en-US" sz="1600" dirty="0"/>
          </a:p>
        </p:txBody>
      </p:sp>
      <p:sp>
        <p:nvSpPr>
          <p:cNvPr id="22" name="Text 20"/>
          <p:cNvSpPr txBox="1"/>
          <p:nvPr/>
        </p:nvSpPr>
        <p:spPr>
          <a:xfrm>
            <a:off x="1572768" y="5385816"/>
            <a:ext cx="4663440" cy="685800"/>
          </a:xfrm>
          <a:prstGeom prst="rect">
            <a:avLst/>
          </a:prstGeom>
          <a:noFill/>
          <a:ln/>
        </p:spPr>
        <p:txBody>
          <a:bodyPr wrap="square" lIns="0" tIns="0" rIns="0" bIns="0" rtlCol="0" anchor="ctr"/>
          <a:lstStyle/>
          <a:p>
            <a:pPr marL="0" indent="0">
              <a:buNone/>
            </a:pPr>
            <a:r>
              <a:rPr lang="en-US" sz="1150" dirty="0">
                <a:solidFill>
                  <a:srgbClr val="5C6675"/>
                </a:solidFill>
                <a:latin typeface="Calibri" pitchFamily="34" charset="0"/>
                <a:ea typeface="Calibri" pitchFamily="34" charset="-122"/>
                <a:cs typeface="Calibri" pitchFamily="34" charset="-120"/>
              </a:rPr>
              <a:t>A curried pure predicate is partially applied on the driver; Spark serializes the resulting closure to every executor. Currying is how configuration travels to the cluster.</a:t>
            </a:r>
            <a:endParaRPr lang="en-US" sz="1150" dirty="0"/>
          </a:p>
        </p:txBody>
      </p:sp>
      <p:sp>
        <p:nvSpPr>
          <p:cNvPr id="23" name="Shape 21"/>
          <p:cNvSpPr/>
          <p:nvPr/>
        </p:nvSpPr>
        <p:spPr>
          <a:xfrm>
            <a:off x="6492240" y="5212080"/>
            <a:ext cx="4800600" cy="548640"/>
          </a:xfrm>
          <a:prstGeom prst="roundRect">
            <a:avLst>
              <a:gd name="adj" fmla="val 10000"/>
            </a:avLst>
          </a:prstGeom>
          <a:solidFill>
            <a:srgbClr val="11161E"/>
          </a:solidFill>
          <a:ln w="12700">
            <a:solidFill>
              <a:srgbClr val="11161E"/>
            </a:solidFill>
            <a:prstDash val="solid"/>
          </a:ln>
        </p:spPr>
      </p:sp>
      <p:sp>
        <p:nvSpPr>
          <p:cNvPr id="24" name="Text 22"/>
          <p:cNvSpPr txBox="1"/>
          <p:nvPr/>
        </p:nvSpPr>
        <p:spPr>
          <a:xfrm>
            <a:off x="6638544" y="5303520"/>
            <a:ext cx="4507992" cy="365760"/>
          </a:xfrm>
          <a:prstGeom prst="rect">
            <a:avLst/>
          </a:prstGeom>
          <a:noFill/>
          <a:ln/>
        </p:spPr>
        <p:txBody>
          <a:bodyPr wrap="square" lIns="0" tIns="0" rIns="0" bIns="0" rtlCol="0" anchor="ctr"/>
          <a:lstStyle/>
          <a:p>
            <a:pPr marL="0" indent="0">
              <a:buNone/>
            </a:pPr>
            <a:r>
              <a:rPr lang="en-US" sz="1100" dirty="0">
                <a:solidFill>
                  <a:srgbClr val="6EE7B7"/>
                </a:solidFill>
                <a:latin typeface="Courier New" pitchFamily="34" charset="0"/>
                <a:ea typeface="Courier New" pitchFamily="34" charset="-122"/>
                <a:cs typeface="Courier New" pitchFamily="34" charset="-120"/>
              </a:rPr>
              <a:t>val isSignificant = atLeastRevenue(threshold)</a:t>
            </a:r>
            <a:endParaRPr lang="en-US" sz="1100" dirty="0"/>
          </a:p>
        </p:txBody>
      </p:sp>
      <p:sp>
        <p:nvSpPr>
          <p:cNvPr id="25" name="Text 23"/>
          <p:cNvSpPr txBox="1"/>
          <p:nvPr/>
        </p:nvSpPr>
        <p:spPr>
          <a:xfrm>
            <a:off x="640080" y="6309360"/>
            <a:ext cx="10881360" cy="320040"/>
          </a:xfrm>
          <a:prstGeom prst="rect">
            <a:avLst/>
          </a:prstGeom>
          <a:noFill/>
          <a:ln/>
        </p:spPr>
        <p:txBody>
          <a:bodyPr wrap="square" lIns="0" tIns="0" rIns="0" bIns="0" rtlCol="0" anchor="ctr"/>
          <a:lstStyle/>
          <a:p>
            <a:pPr marL="0" indent="0">
              <a:buNone/>
            </a:pPr>
            <a:r>
              <a:rPr lang="en-US" sz="1200" i="1" dirty="0">
                <a:solidFill>
                  <a:srgbClr val="5C6675"/>
                </a:solidFill>
                <a:latin typeface="Calibri" pitchFamily="34" charset="0"/>
                <a:ea typeface="Calibri" pitchFamily="34" charset="-122"/>
                <a:cs typeface="Calibri" pitchFamily="34" charset="-120"/>
              </a:rPr>
              <a:t>Also present: pattern matching over sealed ADTs, and functional error handling — techniques 4 and 5.</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116"/>
        </a:solidFill>
        <a:effectLst/>
      </p:bgPr>
    </p:bg>
    <p:spTree>
      <p:nvGrpSpPr>
        <p:cNvPr id="1" name=""/>
        <p:cNvGrpSpPr/>
        <p:nvPr/>
      </p:nvGrpSpPr>
      <p:grpSpPr>
        <a:xfrm>
          <a:off x="0" y="0"/>
          <a:ext cx="0" cy="0"/>
          <a:chOff x="0" y="0"/>
          <a:chExt cx="0" cy="0"/>
        </a:xfrm>
      </p:grpSpPr>
      <p:sp>
        <p:nvSpPr>
          <p:cNvPr id="2" name="Text 0"/>
          <p:cNvSpPr txBox="1"/>
          <p:nvPr/>
        </p:nvSpPr>
        <p:spPr>
          <a:xfrm>
            <a:off x="640080" y="502920"/>
            <a:ext cx="10881360" cy="685800"/>
          </a:xfrm>
          <a:prstGeom prst="rect">
            <a:avLst/>
          </a:prstGeom>
          <a:noFill/>
          <a:ln/>
        </p:spPr>
        <p:txBody>
          <a:bodyPr wrap="square" lIns="0" tIns="0" rIns="0" bIns="0" rtlCol="0" anchor="ctr"/>
          <a:lstStyle/>
          <a:p>
            <a:pPr marL="0" indent="0">
              <a:buNone/>
            </a:pPr>
            <a:r>
              <a:rPr lang="en-US" sz="3400" b="1" dirty="0">
                <a:solidFill>
                  <a:srgbClr val="F2F4F7"/>
                </a:solidFill>
                <a:latin typeface="Cambria" pitchFamily="34" charset="0"/>
                <a:ea typeface="Cambria" pitchFamily="34" charset="-122"/>
                <a:cs typeface="Cambria" pitchFamily="34" charset="-120"/>
              </a:rPr>
              <a:t>Business Results &amp; Conclusion</a:t>
            </a:r>
            <a:endParaRPr lang="en-US" sz="3400" dirty="0"/>
          </a:p>
        </p:txBody>
      </p:sp>
      <p:sp>
        <p:nvSpPr>
          <p:cNvPr id="3" name="Text 1"/>
          <p:cNvSpPr txBox="1"/>
          <p:nvPr/>
        </p:nvSpPr>
        <p:spPr>
          <a:xfrm>
            <a:off x="640080" y="1234440"/>
            <a:ext cx="10881360" cy="365760"/>
          </a:xfrm>
          <a:prstGeom prst="rect">
            <a:avLst/>
          </a:prstGeom>
          <a:noFill/>
          <a:ln/>
        </p:spPr>
        <p:txBody>
          <a:bodyPr wrap="square" lIns="0" tIns="0" rIns="0" bIns="0" rtlCol="0" anchor="ctr"/>
          <a:lstStyle/>
          <a:p>
            <a:pPr marL="0" indent="0">
              <a:buNone/>
            </a:pPr>
            <a:r>
              <a:rPr lang="en-US" sz="1500" i="1" dirty="0">
                <a:solidFill>
                  <a:srgbClr val="9AA3B2"/>
                </a:solidFill>
                <a:latin typeface="Calibri" pitchFamily="34" charset="0"/>
                <a:ea typeface="Calibri" pitchFamily="34" charset="-122"/>
                <a:cs typeface="Calibri" pitchFamily="34" charset="-120"/>
              </a:rPr>
              <a:t>Six CSV reports written to output/ — five analytical, one on data quality.</a:t>
            </a:r>
            <a:endParaRPr lang="en-US" sz="1500" dirty="0"/>
          </a:p>
        </p:txBody>
      </p:sp>
      <p:sp>
        <p:nvSpPr>
          <p:cNvPr id="4" name="Shape 2"/>
          <p:cNvSpPr/>
          <p:nvPr/>
        </p:nvSpPr>
        <p:spPr>
          <a:xfrm>
            <a:off x="640080" y="1828800"/>
            <a:ext cx="2057400" cy="530352"/>
          </a:xfrm>
          <a:prstGeom prst="roundRect">
            <a:avLst>
              <a:gd name="adj" fmla="val 10345"/>
            </a:avLst>
          </a:prstGeom>
          <a:solidFill>
            <a:srgbClr val="1B2029"/>
          </a:solidFill>
          <a:ln w="12700">
            <a:solidFill>
              <a:srgbClr val="2A3240"/>
            </a:solidFill>
            <a:prstDash val="solid"/>
          </a:ln>
        </p:spPr>
      </p:sp>
      <p:sp>
        <p:nvSpPr>
          <p:cNvPr id="5" name="Text 3"/>
          <p:cNvSpPr txBox="1"/>
          <p:nvPr/>
        </p:nvSpPr>
        <p:spPr>
          <a:xfrm>
            <a:off x="640080" y="1975104"/>
            <a:ext cx="2057400" cy="256032"/>
          </a:xfrm>
          <a:prstGeom prst="rect">
            <a:avLst/>
          </a:prstGeom>
          <a:noFill/>
          <a:ln/>
        </p:spPr>
        <p:txBody>
          <a:bodyPr wrap="square" lIns="0" tIns="0" rIns="0" bIns="0" rtlCol="0" anchor="ctr"/>
          <a:lstStyle/>
          <a:p>
            <a:pPr marL="0" indent="0" algn="ctr">
              <a:buNone/>
            </a:pPr>
            <a:r>
              <a:rPr lang="en-US" sz="1050" dirty="0">
                <a:solidFill>
                  <a:srgbClr val="6EE7B7"/>
                </a:solidFill>
                <a:latin typeface="Courier New" pitchFamily="34" charset="0"/>
                <a:ea typeface="Courier New" pitchFamily="34" charset="-122"/>
                <a:cs typeface="Courier New" pitchFamily="34" charset="-120"/>
              </a:rPr>
              <a:t>revenue_by_category</a:t>
            </a:r>
            <a:endParaRPr lang="en-US" sz="1050" dirty="0"/>
          </a:p>
        </p:txBody>
      </p:sp>
      <p:sp>
        <p:nvSpPr>
          <p:cNvPr id="6" name="Shape 4"/>
          <p:cNvSpPr/>
          <p:nvPr/>
        </p:nvSpPr>
        <p:spPr>
          <a:xfrm>
            <a:off x="2834640" y="1828800"/>
            <a:ext cx="2057400" cy="530352"/>
          </a:xfrm>
          <a:prstGeom prst="roundRect">
            <a:avLst>
              <a:gd name="adj" fmla="val 10345"/>
            </a:avLst>
          </a:prstGeom>
          <a:solidFill>
            <a:srgbClr val="1B2029"/>
          </a:solidFill>
          <a:ln w="12700">
            <a:solidFill>
              <a:srgbClr val="2A3240"/>
            </a:solidFill>
            <a:prstDash val="solid"/>
          </a:ln>
        </p:spPr>
      </p:sp>
      <p:sp>
        <p:nvSpPr>
          <p:cNvPr id="7" name="Text 5"/>
          <p:cNvSpPr txBox="1"/>
          <p:nvPr/>
        </p:nvSpPr>
        <p:spPr>
          <a:xfrm>
            <a:off x="2834640" y="1975104"/>
            <a:ext cx="2057400" cy="256032"/>
          </a:xfrm>
          <a:prstGeom prst="rect">
            <a:avLst/>
          </a:prstGeom>
          <a:noFill/>
          <a:ln/>
        </p:spPr>
        <p:txBody>
          <a:bodyPr wrap="square" lIns="0" tIns="0" rIns="0" bIns="0" rtlCol="0" anchor="ctr"/>
          <a:lstStyle/>
          <a:p>
            <a:pPr marL="0" indent="0" algn="ctr">
              <a:buNone/>
            </a:pPr>
            <a:r>
              <a:rPr lang="en-US" sz="1050" dirty="0">
                <a:solidFill>
                  <a:srgbClr val="6EE7B7"/>
                </a:solidFill>
                <a:latin typeface="Courier New" pitchFamily="34" charset="0"/>
                <a:ea typeface="Courier New" pitchFamily="34" charset="-122"/>
                <a:cs typeface="Courier New" pitchFamily="34" charset="-120"/>
              </a:rPr>
              <a:t>revenue_by_country</a:t>
            </a:r>
            <a:endParaRPr lang="en-US" sz="1050" dirty="0"/>
          </a:p>
        </p:txBody>
      </p:sp>
      <p:sp>
        <p:nvSpPr>
          <p:cNvPr id="8" name="Shape 6"/>
          <p:cNvSpPr/>
          <p:nvPr/>
        </p:nvSpPr>
        <p:spPr>
          <a:xfrm>
            <a:off x="5029200" y="1828800"/>
            <a:ext cx="2057400" cy="530352"/>
          </a:xfrm>
          <a:prstGeom prst="roundRect">
            <a:avLst>
              <a:gd name="adj" fmla="val 10345"/>
            </a:avLst>
          </a:prstGeom>
          <a:solidFill>
            <a:srgbClr val="1B2029"/>
          </a:solidFill>
          <a:ln w="12700">
            <a:solidFill>
              <a:srgbClr val="2A3240"/>
            </a:solidFill>
            <a:prstDash val="solid"/>
          </a:ln>
        </p:spPr>
      </p:sp>
      <p:sp>
        <p:nvSpPr>
          <p:cNvPr id="9" name="Text 7"/>
          <p:cNvSpPr txBox="1"/>
          <p:nvPr/>
        </p:nvSpPr>
        <p:spPr>
          <a:xfrm>
            <a:off x="5029200" y="1975104"/>
            <a:ext cx="2057400" cy="256032"/>
          </a:xfrm>
          <a:prstGeom prst="rect">
            <a:avLst/>
          </a:prstGeom>
          <a:noFill/>
          <a:ln/>
        </p:spPr>
        <p:txBody>
          <a:bodyPr wrap="square" lIns="0" tIns="0" rIns="0" bIns="0" rtlCol="0" anchor="ctr"/>
          <a:lstStyle/>
          <a:p>
            <a:pPr marL="0" indent="0" algn="ctr">
              <a:buNone/>
            </a:pPr>
            <a:r>
              <a:rPr lang="en-US" sz="1050" dirty="0">
                <a:solidFill>
                  <a:srgbClr val="6EE7B7"/>
                </a:solidFill>
                <a:latin typeface="Courier New" pitchFamily="34" charset="0"/>
                <a:ea typeface="Courier New" pitchFamily="34" charset="-122"/>
                <a:cs typeface="Courier New" pitchFamily="34" charset="-120"/>
              </a:rPr>
              <a:t>top_customers</a:t>
            </a:r>
            <a:endParaRPr lang="en-US" sz="1050" dirty="0"/>
          </a:p>
        </p:txBody>
      </p:sp>
      <p:sp>
        <p:nvSpPr>
          <p:cNvPr id="10" name="Shape 8"/>
          <p:cNvSpPr/>
          <p:nvPr/>
        </p:nvSpPr>
        <p:spPr>
          <a:xfrm>
            <a:off x="640080" y="2487168"/>
            <a:ext cx="2057400" cy="530352"/>
          </a:xfrm>
          <a:prstGeom prst="roundRect">
            <a:avLst>
              <a:gd name="adj" fmla="val 10345"/>
            </a:avLst>
          </a:prstGeom>
          <a:solidFill>
            <a:srgbClr val="1B2029"/>
          </a:solidFill>
          <a:ln w="12700">
            <a:solidFill>
              <a:srgbClr val="2A3240"/>
            </a:solidFill>
            <a:prstDash val="solid"/>
          </a:ln>
        </p:spPr>
      </p:sp>
      <p:sp>
        <p:nvSpPr>
          <p:cNvPr id="11" name="Text 9"/>
          <p:cNvSpPr txBox="1"/>
          <p:nvPr/>
        </p:nvSpPr>
        <p:spPr>
          <a:xfrm>
            <a:off x="640080" y="2633472"/>
            <a:ext cx="2057400" cy="256032"/>
          </a:xfrm>
          <a:prstGeom prst="rect">
            <a:avLst/>
          </a:prstGeom>
          <a:noFill/>
          <a:ln/>
        </p:spPr>
        <p:txBody>
          <a:bodyPr wrap="square" lIns="0" tIns="0" rIns="0" bIns="0" rtlCol="0" anchor="ctr"/>
          <a:lstStyle/>
          <a:p>
            <a:pPr marL="0" indent="0" algn="ctr">
              <a:buNone/>
            </a:pPr>
            <a:r>
              <a:rPr lang="en-US" sz="1050" dirty="0">
                <a:solidFill>
                  <a:srgbClr val="6EE7B7"/>
                </a:solidFill>
                <a:latin typeface="Courier New" pitchFamily="34" charset="0"/>
                <a:ea typeface="Courier New" pitchFamily="34" charset="-122"/>
                <a:cs typeface="Courier New" pitchFamily="34" charset="-120"/>
              </a:rPr>
              <a:t>order_sizes</a:t>
            </a:r>
            <a:endParaRPr lang="en-US" sz="1050" dirty="0"/>
          </a:p>
        </p:txBody>
      </p:sp>
      <p:sp>
        <p:nvSpPr>
          <p:cNvPr id="12" name="Shape 10"/>
          <p:cNvSpPr/>
          <p:nvPr/>
        </p:nvSpPr>
        <p:spPr>
          <a:xfrm>
            <a:off x="2834640" y="2487168"/>
            <a:ext cx="2057400" cy="530352"/>
          </a:xfrm>
          <a:prstGeom prst="roundRect">
            <a:avLst>
              <a:gd name="adj" fmla="val 10345"/>
            </a:avLst>
          </a:prstGeom>
          <a:solidFill>
            <a:srgbClr val="1B2029"/>
          </a:solidFill>
          <a:ln w="12700">
            <a:solidFill>
              <a:srgbClr val="2A3240"/>
            </a:solidFill>
            <a:prstDash val="solid"/>
          </a:ln>
        </p:spPr>
      </p:sp>
      <p:sp>
        <p:nvSpPr>
          <p:cNvPr id="13" name="Text 11"/>
          <p:cNvSpPr txBox="1"/>
          <p:nvPr/>
        </p:nvSpPr>
        <p:spPr>
          <a:xfrm>
            <a:off x="2834640" y="2633472"/>
            <a:ext cx="2057400" cy="256032"/>
          </a:xfrm>
          <a:prstGeom prst="rect">
            <a:avLst/>
          </a:prstGeom>
          <a:noFill/>
          <a:ln/>
        </p:spPr>
        <p:txBody>
          <a:bodyPr wrap="square" lIns="0" tIns="0" rIns="0" bIns="0" rtlCol="0" anchor="ctr"/>
          <a:lstStyle/>
          <a:p>
            <a:pPr marL="0" indent="0" algn="ctr">
              <a:buNone/>
            </a:pPr>
            <a:r>
              <a:rPr lang="en-US" sz="1050" dirty="0">
                <a:solidFill>
                  <a:srgbClr val="6EE7B7"/>
                </a:solidFill>
                <a:latin typeface="Courier New" pitchFamily="34" charset="0"/>
                <a:ea typeface="Courier New" pitchFamily="34" charset="-122"/>
                <a:cs typeface="Courier New" pitchFamily="34" charset="-120"/>
              </a:rPr>
              <a:t>pareto_categories</a:t>
            </a:r>
            <a:endParaRPr lang="en-US" sz="1050" dirty="0"/>
          </a:p>
        </p:txBody>
      </p:sp>
      <p:sp>
        <p:nvSpPr>
          <p:cNvPr id="14" name="Shape 12"/>
          <p:cNvSpPr/>
          <p:nvPr/>
        </p:nvSpPr>
        <p:spPr>
          <a:xfrm>
            <a:off x="5029200" y="2487168"/>
            <a:ext cx="2057400" cy="530352"/>
          </a:xfrm>
          <a:prstGeom prst="roundRect">
            <a:avLst>
              <a:gd name="adj" fmla="val 10345"/>
            </a:avLst>
          </a:prstGeom>
          <a:solidFill>
            <a:srgbClr val="1B2029"/>
          </a:solidFill>
          <a:ln w="12700">
            <a:solidFill>
              <a:srgbClr val="2A3240"/>
            </a:solidFill>
            <a:prstDash val="solid"/>
          </a:ln>
        </p:spPr>
      </p:sp>
      <p:sp>
        <p:nvSpPr>
          <p:cNvPr id="15" name="Text 13"/>
          <p:cNvSpPr txBox="1"/>
          <p:nvPr/>
        </p:nvSpPr>
        <p:spPr>
          <a:xfrm>
            <a:off x="5029200" y="2633472"/>
            <a:ext cx="2057400" cy="256032"/>
          </a:xfrm>
          <a:prstGeom prst="rect">
            <a:avLst/>
          </a:prstGeom>
          <a:noFill/>
          <a:ln/>
        </p:spPr>
        <p:txBody>
          <a:bodyPr wrap="square" lIns="0" tIns="0" rIns="0" bIns="0" rtlCol="0" anchor="ctr"/>
          <a:lstStyle/>
          <a:p>
            <a:pPr marL="0" indent="0" algn="ctr">
              <a:buNone/>
            </a:pPr>
            <a:r>
              <a:rPr lang="en-US" sz="1050" dirty="0">
                <a:solidFill>
                  <a:srgbClr val="F5C265"/>
                </a:solidFill>
                <a:latin typeface="Courier New" pitchFamily="34" charset="0"/>
                <a:ea typeface="Courier New" pitchFamily="34" charset="-122"/>
                <a:cs typeface="Courier New" pitchFamily="34" charset="-120"/>
              </a:rPr>
              <a:t>rejected_lines</a:t>
            </a:r>
            <a:endParaRPr lang="en-US" sz="1050" dirty="0"/>
          </a:p>
        </p:txBody>
      </p:sp>
      <p:sp>
        <p:nvSpPr>
          <p:cNvPr id="16" name="Shape 14"/>
          <p:cNvSpPr/>
          <p:nvPr/>
        </p:nvSpPr>
        <p:spPr>
          <a:xfrm>
            <a:off x="7406640" y="1828800"/>
            <a:ext cx="4114800" cy="1481328"/>
          </a:xfrm>
          <a:prstGeom prst="roundRect">
            <a:avLst>
              <a:gd name="adj" fmla="val 4938"/>
            </a:avLst>
          </a:prstGeom>
          <a:solidFill>
            <a:srgbClr val="1B2029"/>
          </a:solidFill>
          <a:ln w="12700">
            <a:solidFill>
              <a:srgbClr val="6EE7B7"/>
            </a:solidFill>
            <a:prstDash val="solid"/>
          </a:ln>
        </p:spPr>
      </p:sp>
      <p:sp>
        <p:nvSpPr>
          <p:cNvPr id="17" name="Text 15"/>
          <p:cNvSpPr txBox="1"/>
          <p:nvPr/>
        </p:nvSpPr>
        <p:spPr>
          <a:xfrm>
            <a:off x="7680960" y="1965960"/>
            <a:ext cx="1463040" cy="594360"/>
          </a:xfrm>
          <a:prstGeom prst="rect">
            <a:avLst/>
          </a:prstGeom>
          <a:noFill/>
          <a:ln/>
        </p:spPr>
        <p:txBody>
          <a:bodyPr wrap="square" lIns="0" tIns="0" rIns="0" bIns="0" rtlCol="0" anchor="ctr"/>
          <a:lstStyle/>
          <a:p>
            <a:pPr marL="0" indent="0">
              <a:buNone/>
            </a:pPr>
            <a:r>
              <a:rPr lang="en-US" sz="4000" b="1" dirty="0">
                <a:solidFill>
                  <a:srgbClr val="6EE7B7"/>
                </a:solidFill>
                <a:latin typeface="Cambria" pitchFamily="34" charset="0"/>
                <a:ea typeface="Cambria" pitchFamily="34" charset="-122"/>
                <a:cs typeface="Cambria" pitchFamily="34" charset="-120"/>
              </a:rPr>
              <a:t>80%</a:t>
            </a:r>
            <a:endParaRPr lang="en-US" sz="4000" dirty="0"/>
          </a:p>
        </p:txBody>
      </p:sp>
      <p:sp>
        <p:nvSpPr>
          <p:cNvPr id="18" name="Text 16"/>
          <p:cNvSpPr txBox="1"/>
          <p:nvPr/>
        </p:nvSpPr>
        <p:spPr>
          <a:xfrm>
            <a:off x="7680960" y="2578608"/>
            <a:ext cx="3611880" cy="594360"/>
          </a:xfrm>
          <a:prstGeom prst="rect">
            <a:avLst/>
          </a:prstGeom>
          <a:noFill/>
          <a:ln/>
        </p:spPr>
        <p:txBody>
          <a:bodyPr wrap="square" lIns="0" tIns="0" rIns="0" bIns="0" rtlCol="0" anchor="ctr"/>
          <a:lstStyle/>
          <a:p>
            <a:r>
              <a:rPr lang="en-US" sz="1100" dirty="0">
                <a:solidFill>
                  <a:srgbClr val="9AA3B2"/>
                </a:solidFill>
                <a:latin typeface="Calibri" pitchFamily="34" charset="0"/>
                <a:ea typeface="Calibri" pitchFamily="34" charset="-122"/>
                <a:cs typeface="Calibri" pitchFamily="34" charset="-120"/>
              </a:rPr>
              <a:t>of all revenue comes from just 4 of the 8 categories — Books alone is 48%.</a:t>
            </a:r>
          </a:p>
          <a:p>
            <a:r>
              <a:rPr lang="en-US" sz="1100" dirty="0">
                <a:solidFill>
                  <a:srgbClr val="9AA3B2"/>
                </a:solidFill>
                <a:latin typeface="Calibri" pitchFamily="34" charset="0"/>
                <a:ea typeface="Calibri" pitchFamily="34" charset="-122"/>
                <a:cs typeface="Calibri" pitchFamily="34" charset="-120"/>
              </a:rPr>
              <a:t>Sales follow a Zipf distribution, so the concentration is real, not an artifact.</a:t>
            </a:r>
            <a:endParaRPr lang="en-US" sz="1100" dirty="0"/>
          </a:p>
        </p:txBody>
      </p:sp>
      <p:sp>
        <p:nvSpPr>
          <p:cNvPr id="19" name="Text 17"/>
          <p:cNvSpPr txBox="1"/>
          <p:nvPr/>
        </p:nvSpPr>
        <p:spPr>
          <a:xfrm>
            <a:off x="640080" y="3566160"/>
            <a:ext cx="5486400" cy="365760"/>
          </a:xfrm>
          <a:prstGeom prst="rect">
            <a:avLst/>
          </a:prstGeom>
          <a:noFill/>
          <a:ln/>
        </p:spPr>
        <p:txBody>
          <a:bodyPr wrap="square" lIns="0" tIns="0" rIns="0" bIns="0" rtlCol="0" anchor="ctr"/>
          <a:lstStyle/>
          <a:p>
            <a:pPr marL="0" indent="0">
              <a:buNone/>
            </a:pPr>
            <a:r>
              <a:rPr lang="en-US" sz="2000" b="1" dirty="0">
                <a:solidFill>
                  <a:srgbClr val="F2F4F7"/>
                </a:solidFill>
                <a:latin typeface="Cambria" pitchFamily="34" charset="0"/>
                <a:ea typeface="Cambria" pitchFamily="34" charset="-122"/>
                <a:cs typeface="Cambria" pitchFamily="34" charset="-120"/>
              </a:rPr>
              <a:t>The takeaway</a:t>
            </a:r>
            <a:endParaRPr lang="en-US" sz="2000" dirty="0"/>
          </a:p>
        </p:txBody>
      </p:sp>
      <p:sp>
        <p:nvSpPr>
          <p:cNvPr id="20" name="Shape 18"/>
          <p:cNvSpPr/>
          <p:nvPr/>
        </p:nvSpPr>
        <p:spPr>
          <a:xfrm>
            <a:off x="658368" y="4197096"/>
            <a:ext cx="155448" cy="155448"/>
          </a:xfrm>
          <a:prstGeom prst="ellipse">
            <a:avLst/>
          </a:prstGeom>
          <a:solidFill>
            <a:srgbClr val="6EE7B7"/>
          </a:solidFill>
          <a:ln/>
        </p:spPr>
      </p:sp>
      <p:sp>
        <p:nvSpPr>
          <p:cNvPr id="21" name="Text 19"/>
          <p:cNvSpPr txBox="1"/>
          <p:nvPr/>
        </p:nvSpPr>
        <p:spPr>
          <a:xfrm>
            <a:off x="987552" y="4114800"/>
            <a:ext cx="10424160" cy="329184"/>
          </a:xfrm>
          <a:prstGeom prst="rect">
            <a:avLst/>
          </a:prstGeom>
          <a:noFill/>
          <a:ln/>
        </p:spPr>
        <p:txBody>
          <a:bodyPr wrap="square" lIns="0" tIns="0" rIns="0" bIns="0" rtlCol="0" anchor="ctr"/>
          <a:lstStyle/>
          <a:p>
            <a:pPr marL="0" indent="0">
              <a:buNone/>
            </a:pPr>
            <a:r>
              <a:rPr lang="en-US" sz="1400" b="1" dirty="0">
                <a:solidFill>
                  <a:srgbClr val="F2F4F7"/>
                </a:solidFill>
                <a:latin typeface="Calibri" pitchFamily="34" charset="0"/>
                <a:ea typeface="Calibri" pitchFamily="34" charset="-122"/>
                <a:cs typeface="Calibri" pitchFamily="34" charset="-120"/>
              </a:rPr>
              <a:t>Pure functions </a:t>
            </a:r>
            <a:r>
              <a:rPr lang="en-US" sz="1400" dirty="0">
                <a:solidFill>
                  <a:srgbClr val="9AA3B2"/>
                </a:solidFill>
                <a:latin typeface="Calibri" pitchFamily="34" charset="0"/>
                <a:ea typeface="Calibri" pitchFamily="34" charset="-122"/>
                <a:cs typeface="Calibri" pitchFamily="34" charset="-120"/>
              </a:rPr>
              <a:t>made the logic testable — 56 tests, mostly Spark-free</a:t>
            </a:r>
            <a:endParaRPr lang="en-US" sz="1400" dirty="0"/>
          </a:p>
        </p:txBody>
      </p:sp>
      <p:sp>
        <p:nvSpPr>
          <p:cNvPr id="22" name="Shape 20"/>
          <p:cNvSpPr/>
          <p:nvPr/>
        </p:nvSpPr>
        <p:spPr>
          <a:xfrm>
            <a:off x="658368" y="4745736"/>
            <a:ext cx="155448" cy="155448"/>
          </a:xfrm>
          <a:prstGeom prst="ellipse">
            <a:avLst/>
          </a:prstGeom>
          <a:solidFill>
            <a:srgbClr val="6EE7B7"/>
          </a:solidFill>
          <a:ln/>
        </p:spPr>
      </p:sp>
      <p:sp>
        <p:nvSpPr>
          <p:cNvPr id="23" name="Text 21"/>
          <p:cNvSpPr txBox="1"/>
          <p:nvPr/>
        </p:nvSpPr>
        <p:spPr>
          <a:xfrm>
            <a:off x="987552" y="4663440"/>
            <a:ext cx="10424160" cy="329184"/>
          </a:xfrm>
          <a:prstGeom prst="rect">
            <a:avLst/>
          </a:prstGeom>
          <a:noFill/>
          <a:ln/>
        </p:spPr>
        <p:txBody>
          <a:bodyPr wrap="square" lIns="0" tIns="0" rIns="0" bIns="0" rtlCol="0" anchor="ctr"/>
          <a:lstStyle/>
          <a:p>
            <a:pPr marL="0" indent="0">
              <a:buNone/>
            </a:pPr>
            <a:r>
              <a:rPr lang="en-US" sz="1400" b="1" dirty="0">
                <a:solidFill>
                  <a:srgbClr val="F2F4F7"/>
                </a:solidFill>
                <a:latin typeface="Calibri" pitchFamily="34" charset="0"/>
                <a:ea typeface="Calibri" pitchFamily="34" charset="-122"/>
                <a:cs typeface="Calibri" pitchFamily="34" charset="-120"/>
              </a:rPr>
              <a:t>Immutability </a:t>
            </a:r>
            <a:r>
              <a:rPr lang="en-US" sz="1400" dirty="0">
                <a:solidFill>
                  <a:srgbClr val="9AA3B2"/>
                </a:solidFill>
                <a:latin typeface="Calibri" pitchFamily="34" charset="0"/>
                <a:ea typeface="Calibri" pitchFamily="34" charset="-122"/>
                <a:cs typeface="Calibri" pitchFamily="34" charset="-120"/>
              </a:rPr>
              <a:t>made it safe to distribute — zero var in the whole pipeline</a:t>
            </a:r>
            <a:endParaRPr lang="en-US" sz="1400" dirty="0"/>
          </a:p>
        </p:txBody>
      </p:sp>
      <p:sp>
        <p:nvSpPr>
          <p:cNvPr id="24" name="Shape 22"/>
          <p:cNvSpPr/>
          <p:nvPr/>
        </p:nvSpPr>
        <p:spPr>
          <a:xfrm>
            <a:off x="658368" y="5294376"/>
            <a:ext cx="155448" cy="155448"/>
          </a:xfrm>
          <a:prstGeom prst="ellipse">
            <a:avLst/>
          </a:prstGeom>
          <a:solidFill>
            <a:srgbClr val="6EE7B7"/>
          </a:solidFill>
          <a:ln/>
        </p:spPr>
      </p:sp>
      <p:sp>
        <p:nvSpPr>
          <p:cNvPr id="25" name="Text 23"/>
          <p:cNvSpPr txBox="1"/>
          <p:nvPr/>
        </p:nvSpPr>
        <p:spPr>
          <a:xfrm>
            <a:off x="987552" y="5212080"/>
            <a:ext cx="10424160" cy="329184"/>
          </a:xfrm>
          <a:prstGeom prst="rect">
            <a:avLst/>
          </a:prstGeom>
          <a:noFill/>
          <a:ln/>
        </p:spPr>
        <p:txBody>
          <a:bodyPr wrap="square" lIns="0" tIns="0" rIns="0" bIns="0" rtlCol="0" anchor="ctr"/>
          <a:lstStyle/>
          <a:p>
            <a:pPr marL="0" indent="0">
              <a:buNone/>
            </a:pPr>
            <a:r>
              <a:rPr lang="en-US" sz="1400" b="1" dirty="0">
                <a:solidFill>
                  <a:srgbClr val="F2F4F7"/>
                </a:solidFill>
                <a:latin typeface="Calibri" pitchFamily="34" charset="0"/>
                <a:ea typeface="Calibri" pitchFamily="34" charset="-122"/>
                <a:cs typeface="Calibri" pitchFamily="34" charset="-120"/>
              </a:rPr>
              <a:t>Errors as values </a:t>
            </a:r>
            <a:r>
              <a:rPr lang="en-US" sz="1400" dirty="0">
                <a:solidFill>
                  <a:srgbClr val="9AA3B2"/>
                </a:solidFill>
                <a:latin typeface="Calibri" pitchFamily="34" charset="0"/>
                <a:ea typeface="Calibri" pitchFamily="34" charset="-122"/>
                <a:cs typeface="Calibri" pitchFamily="34" charset="-120"/>
              </a:rPr>
              <a:t>made it robust against dirty data — 20 broken lines, 0 crashes</a:t>
            </a:r>
            <a:endParaRPr lang="en-US" sz="1400" dirty="0"/>
          </a:p>
        </p:txBody>
      </p:sp>
      <p:sp>
        <p:nvSpPr>
          <p:cNvPr id="26" name="Text 24"/>
          <p:cNvSpPr txBox="1"/>
          <p:nvPr/>
        </p:nvSpPr>
        <p:spPr>
          <a:xfrm>
            <a:off x="640080" y="6035040"/>
            <a:ext cx="10881360" cy="365760"/>
          </a:xfrm>
          <a:prstGeom prst="rect">
            <a:avLst/>
          </a:prstGeom>
          <a:noFill/>
          <a:ln/>
        </p:spPr>
        <p:txBody>
          <a:bodyPr wrap="square" lIns="0" tIns="0" rIns="0" bIns="0" rtlCol="0" anchor="ctr"/>
          <a:lstStyle/>
          <a:p>
            <a:pPr marL="0" indent="0">
              <a:buNone/>
            </a:pPr>
            <a:r>
              <a:rPr lang="en-US" sz="1600" i="1" dirty="0">
                <a:solidFill>
                  <a:srgbClr val="6EE7B7"/>
                </a:solidFill>
                <a:latin typeface="Cambria" pitchFamily="34" charset="0"/>
                <a:ea typeface="Cambria" pitchFamily="34" charset="-122"/>
                <a:cs typeface="Cambria" pitchFamily="34" charset="-120"/>
              </a:rPr>
              <a:t>The function that found our 80/20 insight is pure, tail-recursive, and unit-tested.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1494</Words>
  <Application>Microsoft Office PowerPoint</Application>
  <PresentationFormat>Widescreen</PresentationFormat>
  <Paragraphs>97</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Functional Data Processing Pipeline with Apache Spark</dc:title>
  <dc:subject>PptxGenJS Presentation</dc:subject>
  <dc:creator>Ori Kochavi &amp; Dan Elbaz</dc:creator>
  <cp:lastModifiedBy>Ori Kochavi</cp:lastModifiedBy>
  <cp:revision>5</cp:revision>
  <dcterms:created xsi:type="dcterms:W3CDTF">2026-08-29T16:05:05Z</dcterms:created>
  <dcterms:modified xsi:type="dcterms:W3CDTF">2026-08-29T17:47:50Z</dcterms:modified>
</cp:coreProperties>
</file>